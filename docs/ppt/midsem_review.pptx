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7" r:id="rId1"/>
  </p:sldMasterIdLst>
  <p:notesMasterIdLst>
    <p:notesMasterId r:id="rId23"/>
  </p:notesMasterIdLst>
  <p:sldIdLst>
    <p:sldId id="296" r:id="rId2"/>
    <p:sldId id="276" r:id="rId3"/>
    <p:sldId id="277" r:id="rId4"/>
    <p:sldId id="304" r:id="rId5"/>
    <p:sldId id="285" r:id="rId6"/>
    <p:sldId id="297" r:id="rId7"/>
    <p:sldId id="298" r:id="rId8"/>
    <p:sldId id="295" r:id="rId9"/>
    <p:sldId id="287" r:id="rId10"/>
    <p:sldId id="289" r:id="rId11"/>
    <p:sldId id="309" r:id="rId12"/>
    <p:sldId id="308" r:id="rId13"/>
    <p:sldId id="307" r:id="rId14"/>
    <p:sldId id="306" r:id="rId15"/>
    <p:sldId id="305" r:id="rId16"/>
    <p:sldId id="299" r:id="rId17"/>
    <p:sldId id="300" r:id="rId18"/>
    <p:sldId id="301" r:id="rId19"/>
    <p:sldId id="302" r:id="rId20"/>
    <p:sldId id="303" r:id="rId21"/>
    <p:sldId id="267" r:id="rId22"/>
  </p:sldIdLst>
  <p:sldSz cx="9144000" cy="5143500" type="screen16x9"/>
  <p:notesSz cx="6858000" cy="9144000"/>
  <p:defaultText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it Viit" initials="VV" lastIdx="2" clrIdx="0">
    <p:extLst>
      <p:ext uri="{19B8F6BF-5375-455C-9EA6-DF929625EA0E}">
        <p15:presenceInfo xmlns:p15="http://schemas.microsoft.com/office/powerpoint/2012/main" userId="Viit Vii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AEFF"/>
    <a:srgbClr val="25A2FF"/>
    <a:srgbClr val="189CDE"/>
    <a:srgbClr val="0996FF"/>
    <a:srgbClr val="0192FF"/>
    <a:srgbClr val="0594FF"/>
    <a:srgbClr val="008FFA"/>
    <a:srgbClr val="008A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49A0A0-BF56-4941-B08B-87CE23477A75}" v="47" dt="2025-11-27T21:17:39.7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29" autoAdjust="0"/>
    <p:restoredTop sz="94660"/>
  </p:normalViewPr>
  <p:slideViewPr>
    <p:cSldViewPr snapToGrid="0">
      <p:cViewPr varScale="1">
        <p:scale>
          <a:sx n="103" d="100"/>
          <a:sy n="103" d="100"/>
        </p:scale>
        <p:origin x="859" y="5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1"/>
            <a:ext cx="2971800" cy="458788"/>
          </a:xfrm>
          <a:prstGeom prst="rect">
            <a:avLst/>
          </a:prstGeom>
        </p:spPr>
        <p:txBody>
          <a:bodyPr vert="horz" lIns="91440" tIns="45720" rIns="91440" bIns="45720" rtlCol="0"/>
          <a:lstStyle>
            <a:lvl1pPr algn="r">
              <a:defRPr sz="1200"/>
            </a:lvl1pPr>
          </a:lstStyle>
          <a:p>
            <a:fld id="{9981B592-AEF7-4F19-89CE-62E2656F1C5E}" type="datetimeFigureOut">
              <a:rPr lang="en-IN" smtClean="0"/>
              <a:pPr/>
              <a:t>28-11-2025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49"/>
            <a:ext cx="5486400" cy="3600451"/>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D5559C-9A1D-465C-BD22-C64000BBBB10}" type="slidenum">
              <a:rPr lang="en-IN" smtClean="0"/>
              <a:pPr/>
              <a:t>‹#›</a:t>
            </a:fld>
            <a:endParaRPr lang="en-IN"/>
          </a:p>
        </p:txBody>
      </p:sp>
    </p:spTree>
    <p:extLst>
      <p:ext uri="{BB962C8B-B14F-4D97-AF65-F5344CB8AC3E}">
        <p14:creationId xmlns:p14="http://schemas.microsoft.com/office/powerpoint/2010/main" val="311978485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a:p>
            <a:endParaRPr/>
          </a:p>
          <a:p>
            <a:endParaRPr/>
          </a:p>
          <a:p>
            <a:r>
              <a:t>Animation recommendations:</a:t>
            </a:r>
          </a:p>
          <a:p>
            <a:r>
              <a:t>- Use subtle 'Fade In' for main bullet groups (0.5s) </a:t>
            </a:r>
          </a:p>
          <a:p>
            <a:r>
              <a:t>- Use 'Wipe' from left for maps/screenshots </a:t>
            </a:r>
          </a:p>
          <a:p>
            <a:r>
              <a:t>- For architecture/flow diagrams use 'Appear' on click per component</a:t>
            </a:r>
          </a:p>
          <a:p>
            <a:r>
              <a:t>- Add 0.3s stagger between list items to maintain rhythm</a:t>
            </a:r>
          </a:p>
          <a:p>
            <a:r>
              <a:t>- Keep transitions simple: 'Fade' between slides (0.6s)</a:t>
            </a:r>
          </a:p>
          <a:p>
            <a:endParaRPr/>
          </a:p>
          <a:p>
            <a:r>
              <a:t>Open the PPT in PowerPoint to apply these animations to shapes where indicated.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2</a:t>
            </a:fld>
            <a:endParaRPr lang="en-IN"/>
          </a:p>
        </p:txBody>
      </p:sp>
    </p:spTree>
    <p:extLst>
      <p:ext uri="{BB962C8B-B14F-4D97-AF65-F5344CB8AC3E}">
        <p14:creationId xmlns:p14="http://schemas.microsoft.com/office/powerpoint/2010/main" val="1324722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3</a:t>
            </a:fld>
            <a:endParaRPr lang="en-IN"/>
          </a:p>
        </p:txBody>
      </p:sp>
    </p:spTree>
    <p:extLst>
      <p:ext uri="{BB962C8B-B14F-4D97-AF65-F5344CB8AC3E}">
        <p14:creationId xmlns:p14="http://schemas.microsoft.com/office/powerpoint/2010/main" val="1324722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5</a:t>
            </a:fld>
            <a:endParaRPr lang="en-IN"/>
          </a:p>
        </p:txBody>
      </p:sp>
    </p:spTree>
    <p:extLst>
      <p:ext uri="{BB962C8B-B14F-4D97-AF65-F5344CB8AC3E}">
        <p14:creationId xmlns:p14="http://schemas.microsoft.com/office/powerpoint/2010/main" val="132472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BD5559C-9A1D-465C-BD22-C64000BBBB10}" type="slidenum">
              <a:rPr lang="en-IN" smtClean="0"/>
              <a:pPr/>
              <a:t>21</a:t>
            </a:fld>
            <a:endParaRPr lang="en-IN"/>
          </a:p>
        </p:txBody>
      </p:sp>
    </p:spTree>
    <p:extLst>
      <p:ext uri="{BB962C8B-B14F-4D97-AF65-F5344CB8AC3E}">
        <p14:creationId xmlns:p14="http://schemas.microsoft.com/office/powerpoint/2010/main" val="12125745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FE9C4-19AC-4D01-81DA-E140B97A9BAC}"/>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44BCA5E5-3A78-455F-A1D5-145EA9173844}"/>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BA8103-6802-402E-8A9C-2FB10C13AF4C}"/>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AEAE19A-DC0A-4D53-A4FB-E883E9391AD9}"/>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017209EA-FF5B-4648-B17D-3689B5157532}"/>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182736751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FBEFC-853B-4E71-90C0-35BD8D1F83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EAD4BB9-BDA4-4C04-BA11-57AE021A73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911086A-60FA-47B2-80EA-B781B0D07FF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4C0DE884-2704-4762-B1F7-A390B52525A3}"/>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4A9461B4-73E9-4628-92E8-74939F9E75BC}"/>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75226317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0589E-9D4B-44E6-BF11-C075A0629675}"/>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2C8F49-9067-4135-A992-6FB9ECEA2A98}"/>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40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CD58BF-DC88-48A8-8054-8760C54DAE4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B410900E-11FD-4ACA-8E87-4EC87F1A1911}"/>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D8AF7084-87E6-4F73-9995-37B9D5DA77B1}"/>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199546292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22823-44FC-4F0E-988B-2ACF3A6CE4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CB5ADA-214B-4BFF-9D95-4AACAA678348}"/>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A0DDFE-CE85-4487-A2F7-D43D9AD99D2F}"/>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FE3102-E054-4C70-8672-73C06D74E67B}"/>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3AADA228-140D-4F9B-A2FE-74BFB213CF25}"/>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a:extLst>
              <a:ext uri="{FF2B5EF4-FFF2-40B4-BE49-F238E27FC236}">
                <a16:creationId xmlns:a16="http://schemas.microsoft.com/office/drawing/2014/main" id="{728C3789-8D8D-4D5C-A015-00F074C78764}"/>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393226324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DAFB0-2CA1-458E-8D17-13C9D16023B7}"/>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598FFF-DC4E-46B0-93F5-FAB67A7D4A5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45204111-7E13-4A52-A9E1-956A87C87EDF}"/>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A34A28-7BD2-4B06-ABF5-89A47C156453}"/>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40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BA6BDF0-5B29-4A2F-8CC0-14E57446D9A1}"/>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41CA3A-A01B-4B5C-A4F8-C14D8EC45F28}"/>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88FCAA6B-C991-48DE-B578-AE2A9961C3C1}"/>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9" name="Slide Number Placeholder 8">
            <a:extLst>
              <a:ext uri="{FF2B5EF4-FFF2-40B4-BE49-F238E27FC236}">
                <a16:creationId xmlns:a16="http://schemas.microsoft.com/office/drawing/2014/main" id="{D005B9A6-E7CF-4D3D-9193-F5CCF0408725}"/>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3722196576"/>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DAF43-78DB-4D57-9B2D-80B50CE2253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3681968-C016-4D62-894F-92EC20981B84}"/>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A43BC0E1-975B-4302-8CF3-C520CED7189D}"/>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5" name="Slide Number Placeholder 4">
            <a:extLst>
              <a:ext uri="{FF2B5EF4-FFF2-40B4-BE49-F238E27FC236}">
                <a16:creationId xmlns:a16="http://schemas.microsoft.com/office/drawing/2014/main" id="{C92DAC7F-9355-4792-84EA-A4C808E3F218}"/>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181535973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56E9C9-69F5-4D64-AFCA-189935E7A949}"/>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C3FB54D1-AD89-4CA0-8134-5D2BAF3393B5}"/>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4" name="Slide Number Placeholder 3">
            <a:extLst>
              <a:ext uri="{FF2B5EF4-FFF2-40B4-BE49-F238E27FC236}">
                <a16:creationId xmlns:a16="http://schemas.microsoft.com/office/drawing/2014/main" id="{413B8272-E3A3-4683-B86E-79218886BA30}"/>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40539847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8ADB3-F3C8-4862-AF7F-04DDE9A441E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A9489C0-5D66-43A0-995C-51CDB2B895D5}"/>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69A2F6-A867-42FE-8C9C-0CD7E6653E7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p>
        </p:txBody>
      </p:sp>
      <p:sp>
        <p:nvSpPr>
          <p:cNvPr id="5" name="Date Placeholder 4">
            <a:extLst>
              <a:ext uri="{FF2B5EF4-FFF2-40B4-BE49-F238E27FC236}">
                <a16:creationId xmlns:a16="http://schemas.microsoft.com/office/drawing/2014/main" id="{B1724A67-3315-4540-9790-4166A5A82574}"/>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25DC2BE8-6B25-4D6D-A216-0288779C1086}"/>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a:extLst>
              <a:ext uri="{FF2B5EF4-FFF2-40B4-BE49-F238E27FC236}">
                <a16:creationId xmlns:a16="http://schemas.microsoft.com/office/drawing/2014/main" id="{C8F23A18-5A76-4536-926B-E6B38286EE49}"/>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8725873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43C2C-789D-4AF3-A6E0-0AE714409AD3}"/>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2A586BE-F0E8-46DC-B95E-EBCA679965BD}"/>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C35E20C7-39DD-4D17-B93E-E92481C7AFB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100"/>
            </a:lvl2pPr>
            <a:lvl3pPr marL="685800" indent="0">
              <a:buNone/>
              <a:defRPr sz="900"/>
            </a:lvl3pPr>
            <a:lvl4pPr marL="1028700" indent="0">
              <a:buNone/>
              <a:defRPr sz="800"/>
            </a:lvl4pPr>
            <a:lvl5pPr marL="1371600" indent="0">
              <a:buNone/>
              <a:defRPr sz="800"/>
            </a:lvl5pPr>
            <a:lvl6pPr marL="1714500" indent="0">
              <a:buNone/>
              <a:defRPr sz="800"/>
            </a:lvl6pPr>
            <a:lvl7pPr marL="2057400" indent="0">
              <a:buNone/>
              <a:defRPr sz="800"/>
            </a:lvl7pPr>
            <a:lvl8pPr marL="2400300" indent="0">
              <a:buNone/>
              <a:defRPr sz="800"/>
            </a:lvl8pPr>
            <a:lvl9pPr marL="2743200" indent="0">
              <a:buNone/>
              <a:defRPr sz="800"/>
            </a:lvl9pPr>
          </a:lstStyle>
          <a:p>
            <a:pPr lvl="0"/>
            <a:r>
              <a:rPr lang="en-US"/>
              <a:t>Click to edit Master text styles</a:t>
            </a:r>
          </a:p>
        </p:txBody>
      </p:sp>
      <p:sp>
        <p:nvSpPr>
          <p:cNvPr id="5" name="Date Placeholder 4">
            <a:extLst>
              <a:ext uri="{FF2B5EF4-FFF2-40B4-BE49-F238E27FC236}">
                <a16:creationId xmlns:a16="http://schemas.microsoft.com/office/drawing/2014/main" id="{EB26E00D-6FB3-4F93-91B6-3385B363A08C}"/>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F4432EE8-F875-4115-8DB6-6E4C5A4D21ED}"/>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7" name="Slide Number Placeholder 6">
            <a:extLst>
              <a:ext uri="{FF2B5EF4-FFF2-40B4-BE49-F238E27FC236}">
                <a16:creationId xmlns:a16="http://schemas.microsoft.com/office/drawing/2014/main" id="{C4D366B0-CAEE-4D99-8704-EBC2029AC63D}"/>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103552047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DBA33-3BCA-4D04-8B42-26F6BB1720B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A73B614-80E5-43E5-ACC0-10C0948786B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10C068-F4B8-4482-BCC2-F12B8405BE9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2756C726-B8F7-46D8-A302-A3C69CBCE485}"/>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BB672F82-7742-49B4-9D22-A703AE78350A}"/>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251975179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894F4A-84CD-42EC-A311-E7DDDE5B9138}"/>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A6F8A3-D97A-477F-8A9F-5D2D8FC9CD93}"/>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DC056D-23ED-4173-85A0-B789F940CF41}"/>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5C1BBEB-F29D-4181-968D-AF3F415CEC4F}"/>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0FA03474-7DC7-49B8-A4C4-B10099ED3194}"/>
              </a:ext>
            </a:extLst>
          </p:cNvPr>
          <p:cNvSpPr>
            <a:spLocks noGrp="1"/>
          </p:cNvSpPr>
          <p:nvPr>
            <p:ph type="sldNum" sz="quarter" idx="12"/>
          </p:nvPr>
        </p:nvSpPr>
        <p:spPr/>
        <p:txBody>
          <a:bodyPr/>
          <a:lstStyle/>
          <a:p>
            <a:fld id="{3FCAF691-C30B-4477-A4FB-AFF7F164B000}" type="slidenum">
              <a:rPr lang="en-IN" smtClean="0"/>
              <a:pPr/>
              <a:t>‹#›</a:t>
            </a:fld>
            <a:endParaRPr lang="en-IN"/>
          </a:p>
        </p:txBody>
      </p:sp>
    </p:spTree>
    <p:extLst>
      <p:ext uri="{BB962C8B-B14F-4D97-AF65-F5344CB8AC3E}">
        <p14:creationId xmlns:p14="http://schemas.microsoft.com/office/powerpoint/2010/main" val="385764044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alpha val="72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A35254-BA2C-4834-85C4-C01A1408BB62}"/>
              </a:ext>
            </a:extLst>
          </p:cNvPr>
          <p:cNvSpPr>
            <a:spLocks noGrp="1"/>
          </p:cNvSpPr>
          <p:nvPr>
            <p:ph type="title"/>
          </p:nvPr>
        </p:nvSpPr>
        <p:spPr>
          <a:xfrm>
            <a:off x="628650" y="273844"/>
            <a:ext cx="7886700" cy="994172"/>
          </a:xfrm>
          <a:prstGeom prst="rect">
            <a:avLst/>
          </a:prstGeom>
        </p:spPr>
        <p:txBody>
          <a:bodyPr vert="horz" lIns="68580" tIns="34290" rIns="68580" bIns="3429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811206B-E85F-4151-9F6F-B42BD4F2A14C}"/>
              </a:ext>
            </a:extLst>
          </p:cNvPr>
          <p:cNvSpPr>
            <a:spLocks noGrp="1"/>
          </p:cNvSpPr>
          <p:nvPr>
            <p:ph type="body" idx="1"/>
          </p:nvPr>
        </p:nvSpPr>
        <p:spPr>
          <a:xfrm>
            <a:off x="628650" y="1369219"/>
            <a:ext cx="7886700" cy="3263504"/>
          </a:xfrm>
          <a:prstGeom prst="rect">
            <a:avLst/>
          </a:prstGeom>
        </p:spPr>
        <p:txBody>
          <a:bodyPr vert="horz" lIns="68580" tIns="34290" rIns="68580" bIns="3429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7575DC-D9A3-4246-8E04-359C1E241650}"/>
              </a:ext>
            </a:extLst>
          </p:cNvPr>
          <p:cNvSpPr>
            <a:spLocks noGrp="1"/>
          </p:cNvSpPr>
          <p:nvPr>
            <p:ph type="dt" sz="half" idx="2"/>
          </p:nvPr>
        </p:nvSpPr>
        <p:spPr>
          <a:xfrm>
            <a:off x="628650" y="4767263"/>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A17412CA-D198-4AFA-9ADD-37508EAD6F93}"/>
              </a:ext>
            </a:extLst>
          </p:cNvPr>
          <p:cNvSpPr>
            <a:spLocks noGrp="1"/>
          </p:cNvSpPr>
          <p:nvPr>
            <p:ph type="ftr" sz="quarter" idx="3"/>
          </p:nvPr>
        </p:nvSpPr>
        <p:spPr>
          <a:xfrm>
            <a:off x="3028950" y="4767263"/>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r>
              <a:rPr lang="en-US"/>
              <a:t>Faculty Name(optional), Department of ______Engineering, VIIT,Pune-48</a:t>
            </a:r>
            <a:endParaRPr lang="en-IN"/>
          </a:p>
        </p:txBody>
      </p:sp>
      <p:sp>
        <p:nvSpPr>
          <p:cNvPr id="6" name="Slide Number Placeholder 5">
            <a:extLst>
              <a:ext uri="{FF2B5EF4-FFF2-40B4-BE49-F238E27FC236}">
                <a16:creationId xmlns:a16="http://schemas.microsoft.com/office/drawing/2014/main" id="{5F525125-6F41-48E5-B98E-9C500B8810AA}"/>
              </a:ext>
            </a:extLst>
          </p:cNvPr>
          <p:cNvSpPr>
            <a:spLocks noGrp="1"/>
          </p:cNvSpPr>
          <p:nvPr>
            <p:ph type="sldNum" sz="quarter" idx="4"/>
          </p:nvPr>
        </p:nvSpPr>
        <p:spPr>
          <a:xfrm>
            <a:off x="6457950" y="4767263"/>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fld id="{3FCAF691-C30B-4477-A4FB-AFF7F164B000}" type="slidenum">
              <a:rPr lang="en-IN" smtClean="0"/>
              <a:pPr/>
              <a:t>‹#›</a:t>
            </a:fld>
            <a:endParaRPr lang="en-IN"/>
          </a:p>
        </p:txBody>
      </p:sp>
    </p:spTree>
    <p:extLst>
      <p:ext uri="{BB962C8B-B14F-4D97-AF65-F5344CB8AC3E}">
        <p14:creationId xmlns:p14="http://schemas.microsoft.com/office/powerpoint/2010/main" val="3182384893"/>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Lst>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322FD-CCA9-4406-9618-24339941CFF9}"/>
              </a:ext>
            </a:extLst>
          </p:cNvPr>
          <p:cNvSpPr>
            <a:spLocks noGrp="1"/>
          </p:cNvSpPr>
          <p:nvPr>
            <p:ph type="ctrTitle"/>
          </p:nvPr>
        </p:nvSpPr>
        <p:spPr>
          <a:xfrm>
            <a:off x="813582" y="1152894"/>
            <a:ext cx="7516836" cy="785285"/>
          </a:xfrm>
        </p:spPr>
        <p:txBody>
          <a:bodyPr>
            <a:normAutofit/>
          </a:bodyPr>
          <a:lstStyle/>
          <a:p>
            <a:pPr>
              <a:lnSpc>
                <a:spcPct val="100000"/>
              </a:lnSpc>
            </a:pPr>
            <a:r>
              <a:rPr sz="1800" b="0" dirty="0">
                <a:solidFill>
                  <a:srgbClr val="212121"/>
                </a:solidFill>
                <a:latin typeface="Arial Rounded MT Bold" panose="020F0704030504030204" pitchFamily="34" charset="0"/>
              </a:rPr>
              <a:t>Applied Science and Engineering Project (ASEP)</a:t>
            </a:r>
            <a:br>
              <a:rPr dirty="0">
                <a:latin typeface="Arial Rounded MT Bold" panose="020F0704030504030204" pitchFamily="34" charset="0"/>
              </a:rPr>
            </a:br>
            <a:r>
              <a:rPr sz="1800" b="0" dirty="0">
                <a:solidFill>
                  <a:srgbClr val="212121"/>
                </a:solidFill>
                <a:latin typeface="Arial Rounded MT Bold" panose="020F0704030504030204" pitchFamily="34" charset="0"/>
              </a:rPr>
              <a:t>Course Code: AI1011 Mid Semester Review Activity Presentation</a:t>
            </a:r>
            <a:endParaRPr lang="en-IN" sz="2700" b="1" dirty="0">
              <a:latin typeface="Arial Rounded MT Bold" panose="020F0704030504030204" pitchFamily="34" charset="0"/>
            </a:endParaRPr>
          </a:p>
        </p:txBody>
      </p:sp>
      <p:sp>
        <p:nvSpPr>
          <p:cNvPr id="5" name="Subtitle 2">
            <a:extLst>
              <a:ext uri="{FF2B5EF4-FFF2-40B4-BE49-F238E27FC236}">
                <a16:creationId xmlns:a16="http://schemas.microsoft.com/office/drawing/2014/main" id="{82E6DDC4-FD95-4802-92CF-9A0A66152708}"/>
              </a:ext>
            </a:extLst>
          </p:cNvPr>
          <p:cNvSpPr txBox="1">
            <a:spLocks/>
          </p:cNvSpPr>
          <p:nvPr/>
        </p:nvSpPr>
        <p:spPr>
          <a:xfrm>
            <a:off x="249210" y="4021068"/>
            <a:ext cx="8645581" cy="420461"/>
          </a:xfrm>
          <a:prstGeom prst="rect">
            <a:avLst/>
          </a:prstGeom>
          <a:solidFill>
            <a:srgbClr val="25A2FF"/>
          </a:solidFill>
          <a:ln>
            <a:noFill/>
          </a:ln>
        </p:spPr>
        <p:style>
          <a:lnRef idx="1">
            <a:schemeClr val="accent1"/>
          </a:lnRef>
          <a:fillRef idx="3">
            <a:schemeClr val="accent1"/>
          </a:fillRef>
          <a:effectRef idx="2">
            <a:schemeClr val="accent1"/>
          </a:effectRef>
          <a:fontRef idx="minor">
            <a:schemeClr val="lt1"/>
          </a:fontRef>
        </p:style>
        <p:txBody>
          <a:bodyPr vert="horz" lIns="68580" tIns="34290" rIns="68580" bIns="34290" rtlCol="0">
            <a:noAutofit/>
          </a:bodyPr>
          <a:lstStyle>
            <a:lvl1pPr marL="0" indent="0" algn="ctr" defTabSz="685800" rtl="0" eaLnBrk="1" latinLnBrk="0" hangingPunct="1">
              <a:lnSpc>
                <a:spcPct val="90000"/>
              </a:lnSpc>
              <a:spcBef>
                <a:spcPts val="750"/>
              </a:spcBef>
              <a:buFont typeface="Arial" panose="020B0604020202020204" pitchFamily="34" charset="0"/>
              <a:buNone/>
              <a:defRPr sz="1800" kern="1200">
                <a:solidFill>
                  <a:schemeClr val="tx1"/>
                </a:solidFill>
                <a:latin typeface="+mn-lt"/>
                <a:ea typeface="+mn-ea"/>
                <a:cs typeface="+mn-cs"/>
              </a:defRPr>
            </a:lvl1pPr>
            <a:lvl2pPr marL="342900" indent="0" algn="ctr" defTabSz="685800" rtl="0" eaLnBrk="1" latinLnBrk="0" hangingPunct="1">
              <a:lnSpc>
                <a:spcPct val="90000"/>
              </a:lnSpc>
              <a:spcBef>
                <a:spcPts val="375"/>
              </a:spcBef>
              <a:buFont typeface="Arial" panose="020B0604020202020204" pitchFamily="34" charset="0"/>
              <a:buNone/>
              <a:defRPr sz="1500" kern="1200">
                <a:solidFill>
                  <a:schemeClr val="tx1"/>
                </a:solidFill>
                <a:latin typeface="+mn-lt"/>
                <a:ea typeface="+mn-ea"/>
                <a:cs typeface="+mn-cs"/>
              </a:defRPr>
            </a:lvl2pPr>
            <a:lvl3pPr marL="685800" indent="0" algn="ctr" defTabSz="685800" rtl="0" eaLnBrk="1" latinLnBrk="0" hangingPunct="1">
              <a:lnSpc>
                <a:spcPct val="90000"/>
              </a:lnSpc>
              <a:spcBef>
                <a:spcPts val="375"/>
              </a:spcBef>
              <a:buFont typeface="Arial" panose="020B0604020202020204" pitchFamily="34" charset="0"/>
              <a:buNone/>
              <a:defRPr sz="1400" kern="1200">
                <a:solidFill>
                  <a:schemeClr val="tx1"/>
                </a:solidFill>
                <a:latin typeface="+mn-lt"/>
                <a:ea typeface="+mn-ea"/>
                <a:cs typeface="+mn-cs"/>
              </a:defRPr>
            </a:lvl3pPr>
            <a:lvl4pPr marL="10287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4pPr>
            <a:lvl5pPr marL="13716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5pPr>
            <a:lvl6pPr marL="17145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6pPr>
            <a:lvl7pPr marL="20574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7pPr>
            <a:lvl8pPr marL="24003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8pPr>
            <a:lvl9pPr marL="2743200" indent="0" algn="ctr" defTabSz="685800" rtl="0" eaLnBrk="1" latinLnBrk="0" hangingPunct="1">
              <a:lnSpc>
                <a:spcPct val="90000"/>
              </a:lnSpc>
              <a:spcBef>
                <a:spcPts val="375"/>
              </a:spcBef>
              <a:buFont typeface="Arial" panose="020B0604020202020204" pitchFamily="34" charset="0"/>
              <a:buNone/>
              <a:defRPr sz="1200" kern="1200">
                <a:solidFill>
                  <a:schemeClr val="tx1"/>
                </a:solidFill>
                <a:latin typeface="+mn-lt"/>
                <a:ea typeface="+mn-ea"/>
                <a:cs typeface="+mn-cs"/>
              </a:defRPr>
            </a:lvl9pPr>
          </a:lstStyle>
          <a:p>
            <a:r>
              <a:rPr sz="1800" b="0" dirty="0">
                <a:solidFill>
                  <a:srgbClr val="212121"/>
                </a:solidFill>
                <a:latin typeface="Arial Rounded MT Bold" panose="020F0704030504030204" pitchFamily="34" charset="0"/>
              </a:rPr>
              <a:t>BRACT’S, Vishwakarma Institute of Technology, Pune-37</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8605" y="2521468"/>
            <a:ext cx="1326236" cy="1499600"/>
          </a:xfrm>
          <a:prstGeom prst="rect">
            <a:avLst/>
          </a:prstGeom>
        </p:spPr>
      </p:pic>
      <p:sp>
        <p:nvSpPr>
          <p:cNvPr id="7" name="Rectangle 6"/>
          <p:cNvSpPr/>
          <p:nvPr/>
        </p:nvSpPr>
        <p:spPr>
          <a:xfrm>
            <a:off x="0" y="-20407"/>
            <a:ext cx="9144000" cy="548640"/>
          </a:xfrm>
          <a:prstGeom prst="rect">
            <a:avLst/>
          </a:prstGeom>
          <a:solidFill>
            <a:srgbClr val="1155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07052" y="69247"/>
            <a:ext cx="2548518" cy="369332"/>
          </a:xfrm>
          <a:prstGeom prst="rect">
            <a:avLst/>
          </a:prstGeom>
          <a:noFill/>
        </p:spPr>
        <p:txBody>
          <a:bodyPr wrap="none">
            <a:spAutoFit/>
          </a:bodyPr>
          <a:lstStyle/>
          <a:p>
            <a:pPr algn="l"/>
            <a:r>
              <a:rPr lang="en-IN" sz="1800" b="1" dirty="0" err="1">
                <a:solidFill>
                  <a:srgbClr val="FFFFFF"/>
                </a:solidFill>
                <a:latin typeface="Arial Rounded MT Bold" panose="020F0704030504030204" pitchFamily="34" charset="0"/>
              </a:rPr>
              <a:t>Neurodrive</a:t>
            </a:r>
            <a:r>
              <a:rPr lang="en-IN" sz="1800" b="1" dirty="0">
                <a:solidFill>
                  <a:srgbClr val="FFFFFF"/>
                </a:solidFill>
                <a:latin typeface="Arial Rounded MT Bold" panose="020F0704030504030204" pitchFamily="34" charset="0"/>
              </a:rPr>
              <a:t> </a:t>
            </a:r>
            <a:r>
              <a:rPr sz="1800" b="1" dirty="0">
                <a:solidFill>
                  <a:srgbClr val="FFFFFF"/>
                </a:solidFill>
                <a:latin typeface="Arial Rounded MT Bold" panose="020F0704030504030204" pitchFamily="34" charset="0"/>
              </a:rPr>
              <a:t>— ASEP1</a:t>
            </a:r>
          </a:p>
        </p:txBody>
      </p:sp>
      <p:sp>
        <p:nvSpPr>
          <p:cNvPr id="3" name="Rectangle 2">
            <a:extLst>
              <a:ext uri="{FF2B5EF4-FFF2-40B4-BE49-F238E27FC236}">
                <a16:creationId xmlns:a16="http://schemas.microsoft.com/office/drawing/2014/main" id="{A17C87F6-1C0B-0CBC-F11A-2183268B43B8}"/>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Tree>
    <p:extLst>
      <p:ext uri="{BB962C8B-B14F-4D97-AF65-F5344CB8AC3E}">
        <p14:creationId xmlns:p14="http://schemas.microsoft.com/office/powerpoint/2010/main" val="1726692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rmAutofit/>
          </a:bodyPr>
          <a:lstStyle/>
          <a:p>
            <a:pPr algn="ctr"/>
            <a:r>
              <a:rPr lang="en-US" sz="1800" b="1" u="sng" dirty="0">
                <a:latin typeface="Arial Rounded MT Bold" panose="020F0704030504030204" pitchFamily="34" charset="0"/>
              </a:rPr>
              <a:t>Applied Science and Engineering Project 1 (ASEP1) </a:t>
            </a:r>
            <a:r>
              <a:rPr lang="en-US" sz="1800" b="1" u="sng" dirty="0" err="1">
                <a:latin typeface="Arial Rounded MT Bold" panose="020F0704030504030204" pitchFamily="34" charset="0"/>
              </a:rPr>
              <a:t>Project_PPT</a:t>
            </a:r>
            <a:r>
              <a:rPr lang="en-US" sz="1800" b="1" u="sng" dirty="0">
                <a:latin typeface="Arial Rounded MT Bold" panose="020F0704030504030204" pitchFamily="34" charset="0"/>
              </a:rPr>
              <a:t> for Mid Semester Assessment – November 2025</a:t>
            </a:r>
            <a:endParaRPr lang="en-IN" sz="1800" b="1" u="sng" dirty="0">
              <a:latin typeface="Arial Rounded MT Bold" panose="020F0704030504030204" pitchFamily="34"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2" name="Rectangle 11"/>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
        <p:nvSpPr>
          <p:cNvPr id="13"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pPr/>
              <a:t>2</a:t>
            </a:fld>
            <a:endParaRPr lang="en-IN" sz="1200" b="1" dirty="0">
              <a:solidFill>
                <a:schemeClr val="tx1"/>
              </a:solidFill>
            </a:endParaRPr>
          </a:p>
        </p:txBody>
      </p:sp>
      <p:sp>
        <p:nvSpPr>
          <p:cNvPr id="7" name="Content Placeholder 6"/>
          <p:cNvSpPr>
            <a:spLocks noGrp="1"/>
          </p:cNvSpPr>
          <p:nvPr>
            <p:ph idx="1"/>
          </p:nvPr>
        </p:nvSpPr>
        <p:spPr>
          <a:xfrm>
            <a:off x="628650" y="767255"/>
            <a:ext cx="7886700" cy="3865468"/>
          </a:xfrm>
        </p:spPr>
        <p:txBody>
          <a:bodyPr>
            <a:normAutofit/>
          </a:bodyPr>
          <a:lstStyle/>
          <a:p>
            <a:pPr algn="ctr">
              <a:buNone/>
            </a:pPr>
            <a:r>
              <a:rPr lang="en-IN" sz="1600" dirty="0">
                <a:latin typeface="Arial Rounded MT Bold" panose="020F0704030504030204" pitchFamily="34" charset="0"/>
              </a:rPr>
              <a:t>Project Title:- </a:t>
            </a:r>
            <a:br>
              <a:rPr lang="en-IN" sz="1600" dirty="0">
                <a:latin typeface="Arial Rounded MT Bold" panose="020F0704030504030204" pitchFamily="34" charset="0"/>
              </a:rPr>
            </a:br>
            <a:r>
              <a:rPr lang="en-IN" sz="1600" dirty="0">
                <a:latin typeface="Arial Rounded MT Bold" panose="020F0704030504030204" pitchFamily="34" charset="0"/>
              </a:rPr>
              <a:t>Div:-IT E  ASEP1_Group No:-</a:t>
            </a:r>
            <a:r>
              <a:rPr lang="en-IN" sz="1600" dirty="0">
                <a:solidFill>
                  <a:srgbClr val="FF0000"/>
                </a:solidFill>
                <a:latin typeface="Arial Rounded MT Bold" panose="020F0704030504030204" pitchFamily="34" charset="0"/>
              </a:rPr>
              <a:t>15 </a:t>
            </a:r>
            <a:r>
              <a:rPr lang="en-IN" sz="1600" dirty="0">
                <a:latin typeface="Arial Rounded MT Bold" panose="020F0704030504030204" pitchFamily="34" charset="0"/>
              </a:rPr>
              <a:t>Day:-Friday Date:-</a:t>
            </a:r>
            <a:r>
              <a:rPr lang="en-IN" sz="1600" dirty="0">
                <a:solidFill>
                  <a:srgbClr val="FF0000"/>
                </a:solidFill>
                <a:latin typeface="Arial Rounded MT Bold" panose="020F0704030504030204" pitchFamily="34" charset="0"/>
              </a:rPr>
              <a:t>28/11/2025</a:t>
            </a:r>
          </a:p>
          <a:p>
            <a:pPr>
              <a:buNone/>
            </a:pPr>
            <a:r>
              <a:rPr lang="en-IN" sz="1600" dirty="0">
                <a:latin typeface="Arial Rounded MT Bold" panose="020F0704030504030204" pitchFamily="34" charset="0"/>
              </a:rPr>
              <a:t>Presented by						Project Guide</a:t>
            </a:r>
          </a:p>
          <a:p>
            <a:pPr marL="0" indent="0">
              <a:buNone/>
            </a:pPr>
            <a:r>
              <a:rPr lang="en-IN" sz="1600" dirty="0">
                <a:latin typeface="Arial Rounded MT Bold" panose="020F0704030504030204" pitchFamily="34" charset="0"/>
              </a:rPr>
              <a:t>1) Shashwat Singh(1251030269)</a:t>
            </a:r>
          </a:p>
          <a:p>
            <a:pPr marL="0" indent="0">
              <a:buNone/>
            </a:pPr>
            <a:r>
              <a:rPr lang="en-IN" sz="1600" dirty="0">
                <a:latin typeface="Arial Rounded MT Bold" panose="020F0704030504030204" pitchFamily="34" charset="0"/>
              </a:rPr>
              <a:t>2) Shaunak Bhat(1251030497)			Mr. Kalpesh Joshi</a:t>
            </a:r>
          </a:p>
          <a:p>
            <a:pPr>
              <a:buNone/>
            </a:pPr>
            <a:r>
              <a:rPr lang="en-IN" sz="1600" dirty="0">
                <a:latin typeface="Arial Rounded MT Bold" panose="020F0704030504030204" pitchFamily="34" charset="0"/>
              </a:rPr>
              <a:t>3) Pawan </a:t>
            </a:r>
            <a:r>
              <a:rPr lang="en-IN" sz="1600" dirty="0" err="1">
                <a:latin typeface="Arial Rounded MT Bold" panose="020F0704030504030204" pitchFamily="34" charset="0"/>
              </a:rPr>
              <a:t>Shewale</a:t>
            </a:r>
            <a:r>
              <a:rPr lang="en-IN" sz="1600" dirty="0">
                <a:latin typeface="Arial Rounded MT Bold" panose="020F0704030504030204" pitchFamily="34" charset="0"/>
              </a:rPr>
              <a:t>(1251030231)</a:t>
            </a:r>
          </a:p>
          <a:p>
            <a:pPr>
              <a:buNone/>
            </a:pPr>
            <a:r>
              <a:rPr lang="en-IN" sz="1600" dirty="0">
                <a:latin typeface="Arial Rounded MT Bold" panose="020F0704030504030204" pitchFamily="34" charset="0"/>
              </a:rPr>
              <a:t>4) Manvi Shinde(1251030064)</a:t>
            </a:r>
          </a:p>
          <a:p>
            <a:pPr>
              <a:buNone/>
            </a:pPr>
            <a:r>
              <a:rPr lang="en-IN" sz="1600" dirty="0">
                <a:latin typeface="Arial Rounded MT Bold" panose="020F0704030504030204" pitchFamily="34" charset="0"/>
              </a:rPr>
              <a:t>5) Tanmay Shinde(1251030219)</a:t>
            </a:r>
          </a:p>
          <a:p>
            <a:pPr algn="ctr">
              <a:buNone/>
            </a:pPr>
            <a:r>
              <a:rPr lang="en-IN" sz="1600" dirty="0">
                <a:latin typeface="Arial Rounded MT Bold" panose="020F0704030504030204" pitchFamily="34" charset="0"/>
              </a:rPr>
              <a:t>Department of Engineering, Sciences and Humanities</a:t>
            </a:r>
          </a:p>
          <a:p>
            <a:pPr algn="ctr">
              <a:buNone/>
            </a:pPr>
            <a:r>
              <a:rPr lang="en-IN" sz="1600" dirty="0" err="1">
                <a:latin typeface="Arial Rounded MT Bold" panose="020F0704030504030204" pitchFamily="34" charset="0"/>
              </a:rPr>
              <a:t>Vishwakarma</a:t>
            </a:r>
            <a:r>
              <a:rPr lang="en-IN" sz="1600" dirty="0">
                <a:latin typeface="Arial Rounded MT Bold" panose="020F0704030504030204" pitchFamily="34" charset="0"/>
              </a:rPr>
              <a:t> Institute of Technology, </a:t>
            </a:r>
            <a:r>
              <a:rPr lang="en-IN" sz="1600" dirty="0" err="1">
                <a:latin typeface="Arial Rounded MT Bold" panose="020F0704030504030204" pitchFamily="34" charset="0"/>
              </a:rPr>
              <a:t>Pune</a:t>
            </a:r>
            <a:endParaRPr lang="en-IN" sz="1600" dirty="0">
              <a:latin typeface="Arial Rounded MT Bold" panose="020F0704030504030204" pitchFamily="34" charset="0"/>
            </a:endParaRPr>
          </a:p>
          <a:p>
            <a:pPr>
              <a:buNone/>
            </a:pPr>
            <a:endParaRPr lang="en-IN" sz="1600" b="1" dirty="0">
              <a:latin typeface="Arial Rounded MT Bold" panose="020F0704030504030204" pitchFamily="34" charset="0"/>
            </a:endParaRPr>
          </a:p>
          <a:p>
            <a:pPr>
              <a:buNone/>
            </a:pPr>
            <a:endParaRPr lang="en-IN" sz="1600" b="1" dirty="0">
              <a:latin typeface="Arial Rounded MT Bold" panose="020F0704030504030204" pitchFamily="34" charset="0"/>
            </a:endParaRPr>
          </a:p>
          <a:p>
            <a:pPr>
              <a:buNone/>
            </a:pPr>
            <a:endParaRPr lang="en-IN" sz="1600" b="1" dirty="0">
              <a:latin typeface="Arial Rounded MT Bold" panose="020F0704030504030204" pitchFamily="34" charset="0"/>
            </a:endParaRPr>
          </a:p>
        </p:txBody>
      </p:sp>
    </p:spTree>
    <p:extLst>
      <p:ext uri="{BB962C8B-B14F-4D97-AF65-F5344CB8AC3E}">
        <p14:creationId xmlns:p14="http://schemas.microsoft.com/office/powerpoint/2010/main" val="318630326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rmAutofit/>
          </a:bodyPr>
          <a:lstStyle/>
          <a:p>
            <a:pPr algn="ctr"/>
            <a:r>
              <a:rPr lang="en-IN" sz="2700" b="1" u="sng" dirty="0">
                <a:latin typeface="Arial Rounded MT Bold" panose="020F0704030504030204" pitchFamily="34" charset="0"/>
              </a:rPr>
              <a:t>Introduction of ASEP Topic</a:t>
            </a:r>
          </a:p>
        </p:txBody>
      </p:sp>
      <p:sp>
        <p:nvSpPr>
          <p:cNvPr id="3" name="Content Placeholder 2">
            <a:extLst>
              <a:ext uri="{FF2B5EF4-FFF2-40B4-BE49-F238E27FC236}">
                <a16:creationId xmlns:a16="http://schemas.microsoft.com/office/drawing/2014/main" id="{48F90B0E-ED9E-4B65-820F-8F4890616EC9}"/>
              </a:ext>
            </a:extLst>
          </p:cNvPr>
          <p:cNvSpPr>
            <a:spLocks noGrp="1"/>
          </p:cNvSpPr>
          <p:nvPr>
            <p:ph idx="1"/>
          </p:nvPr>
        </p:nvSpPr>
        <p:spPr>
          <a:xfrm>
            <a:off x="628650" y="819345"/>
            <a:ext cx="7886700" cy="3809804"/>
          </a:xfrm>
        </p:spPr>
        <p:txBody>
          <a:bodyPr>
            <a:normAutofit/>
          </a:bodyPr>
          <a:lstStyle/>
          <a:p>
            <a:pPr>
              <a:lnSpc>
                <a:spcPct val="100000"/>
              </a:lnSpc>
            </a:pPr>
            <a:r>
              <a:rPr lang="en-US" sz="1800" b="1" dirty="0">
                <a:latin typeface="Arial Rounded MT Bold" panose="020F0704030504030204" pitchFamily="34" charset="0"/>
              </a:rPr>
              <a:t>Modern users manage large collections of documents across courses, projects, and personal work.</a:t>
            </a:r>
          </a:p>
          <a:p>
            <a:pPr>
              <a:lnSpc>
                <a:spcPct val="100000"/>
              </a:lnSpc>
            </a:pPr>
            <a:r>
              <a:rPr lang="en-US" sz="1800" b="1" dirty="0">
                <a:latin typeface="Arial Rounded MT Bold" panose="020F0704030504030204" pitchFamily="34" charset="0"/>
              </a:rPr>
              <a:t>As digital content grows, manually organizing files into folders becomes inefficient and time-consuming.</a:t>
            </a:r>
          </a:p>
          <a:p>
            <a:pPr>
              <a:lnSpc>
                <a:spcPct val="100000"/>
              </a:lnSpc>
            </a:pPr>
            <a:r>
              <a:rPr lang="en-US" sz="1800" b="1" dirty="0">
                <a:latin typeface="Arial Rounded MT Bold" panose="020F0704030504030204" pitchFamily="34" charset="0"/>
              </a:rPr>
              <a:t>Users increasingly expect intelligent systems that can understand document content, not just filenames.</a:t>
            </a:r>
          </a:p>
          <a:p>
            <a:pPr>
              <a:lnSpc>
                <a:spcPct val="100000"/>
              </a:lnSpc>
            </a:pPr>
            <a:r>
              <a:rPr lang="en-US" sz="1800" b="1" dirty="0">
                <a:latin typeface="Arial Rounded MT Bold" panose="020F0704030504030204" pitchFamily="34" charset="0"/>
              </a:rPr>
              <a:t>Advances in NLP and vector search now make it possible to build smarter file-retrieval systems.</a:t>
            </a:r>
          </a:p>
          <a:p>
            <a:pPr>
              <a:lnSpc>
                <a:spcPct val="100000"/>
              </a:lnSpc>
            </a:pPr>
            <a:r>
              <a:rPr lang="en-US" sz="1800" b="1" dirty="0">
                <a:latin typeface="Arial Rounded MT Bold" panose="020F0704030504030204" pitchFamily="34" charset="0"/>
              </a:rPr>
              <a:t>This project leverages these AI capabilities to enhance local file search and improve user productivity</a:t>
            </a:r>
            <a:r>
              <a:rPr lang="en-US" sz="2000" b="1" dirty="0">
                <a:latin typeface="Arial Rounded MT Bold" panose="020F0704030504030204" pitchFamily="34" charset="0"/>
              </a:rPr>
              <a:t>.</a:t>
            </a:r>
            <a:endParaRPr lang="en-GB" sz="2000" b="1" dirty="0">
              <a:latin typeface="Arial Rounded MT Bold" panose="020F0704030504030204" pitchFamily="34"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2" name="Rectangle 11"/>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
        <p:nvSpPr>
          <p:cNvPr id="13"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pPr/>
              <a:t>3</a:t>
            </a:fld>
            <a:endParaRPr lang="en-IN" sz="1200" b="1" dirty="0">
              <a:solidFill>
                <a:schemeClr val="tx1"/>
              </a:solidFill>
            </a:endParaRPr>
          </a:p>
        </p:txBody>
      </p:sp>
    </p:spTree>
    <p:extLst>
      <p:ext uri="{BB962C8B-B14F-4D97-AF65-F5344CB8AC3E}">
        <p14:creationId xmlns:p14="http://schemas.microsoft.com/office/powerpoint/2010/main" val="318630326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A0A82-B26C-365A-BDBE-1C321AFA183C}"/>
              </a:ext>
            </a:extLst>
          </p:cNvPr>
          <p:cNvSpPr>
            <a:spLocks noGrp="1"/>
          </p:cNvSpPr>
          <p:nvPr>
            <p:ph type="title"/>
          </p:nvPr>
        </p:nvSpPr>
        <p:spPr>
          <a:xfrm>
            <a:off x="628650" y="0"/>
            <a:ext cx="7886700" cy="1268016"/>
          </a:xfrm>
        </p:spPr>
        <p:txBody>
          <a:bodyPr>
            <a:normAutofit/>
          </a:bodyPr>
          <a:lstStyle/>
          <a:p>
            <a:pPr algn="ctr"/>
            <a:r>
              <a:rPr lang="en-IN" sz="2700" u="sng" dirty="0">
                <a:latin typeface="Arial Rounded MT Bold" panose="020F0704030504030204" pitchFamily="34" charset="0"/>
              </a:rPr>
              <a:t>Problem Statement</a:t>
            </a:r>
          </a:p>
        </p:txBody>
      </p:sp>
      <p:sp>
        <p:nvSpPr>
          <p:cNvPr id="3" name="Content Placeholder 2">
            <a:extLst>
              <a:ext uri="{FF2B5EF4-FFF2-40B4-BE49-F238E27FC236}">
                <a16:creationId xmlns:a16="http://schemas.microsoft.com/office/drawing/2014/main" id="{0891F159-78B4-3827-065B-8D9DD1B63791}"/>
              </a:ext>
            </a:extLst>
          </p:cNvPr>
          <p:cNvSpPr>
            <a:spLocks noGrp="1"/>
          </p:cNvSpPr>
          <p:nvPr>
            <p:ph idx="1"/>
          </p:nvPr>
        </p:nvSpPr>
        <p:spPr/>
        <p:txBody>
          <a:bodyPr/>
          <a:lstStyle/>
          <a:p>
            <a:pPr marL="285750" indent="-285750"/>
            <a:r>
              <a:rPr lang="en-US" sz="1800" dirty="0">
                <a:latin typeface="Arial Rounded MT Bold" panose="020F0704030504030204" pitchFamily="34" charset="0"/>
              </a:rPr>
              <a:t>Students and professionals store hundreds of PDFs, DOCX, and text files on their systems.</a:t>
            </a:r>
          </a:p>
          <a:p>
            <a:pPr marL="285750" indent="-285750"/>
            <a:r>
              <a:rPr lang="en-US" sz="1800" dirty="0">
                <a:latin typeface="Arial Rounded MT Bold" panose="020F0704030504030204" pitchFamily="34" charset="0"/>
              </a:rPr>
              <a:t>Traditional file systems only support search by file name, path, or exact keywords.</a:t>
            </a:r>
          </a:p>
          <a:p>
            <a:pPr marL="285750" indent="-285750"/>
            <a:r>
              <a:rPr lang="en-US" sz="1800" dirty="0">
                <a:latin typeface="Arial Rounded MT Bold" panose="020F0704030504030204" pitchFamily="34" charset="0"/>
              </a:rPr>
              <a:t>Users often forget the exact file name or location and struggle to locate the right document.</a:t>
            </a:r>
          </a:p>
          <a:p>
            <a:pPr marL="285750" indent="-285750"/>
            <a:r>
              <a:rPr lang="en-US" sz="1800" dirty="0">
                <a:latin typeface="Arial Rounded MT Bold" panose="020F0704030504030204" pitchFamily="34" charset="0"/>
              </a:rPr>
              <a:t>There is no semantic understanding of file content or context (topic, type, recency, usage).</a:t>
            </a:r>
            <a:endParaRPr lang="en-IN" sz="1800" dirty="0">
              <a:latin typeface="Arial Rounded MT Bold" panose="020F0704030504030204" pitchFamily="34" charset="0"/>
            </a:endParaRPr>
          </a:p>
          <a:p>
            <a:pPr marL="0" indent="0">
              <a:buNone/>
            </a:pPr>
            <a:endParaRPr lang="en-IN" dirty="0"/>
          </a:p>
        </p:txBody>
      </p:sp>
      <p:sp>
        <p:nvSpPr>
          <p:cNvPr id="5" name="Slide Number Placeholder 4">
            <a:extLst>
              <a:ext uri="{FF2B5EF4-FFF2-40B4-BE49-F238E27FC236}">
                <a16:creationId xmlns:a16="http://schemas.microsoft.com/office/drawing/2014/main" id="{AD49D3A6-B4F7-6334-59E4-C98714DB8439}"/>
              </a:ext>
            </a:extLst>
          </p:cNvPr>
          <p:cNvSpPr>
            <a:spLocks noGrp="1"/>
          </p:cNvSpPr>
          <p:nvPr>
            <p:ph type="sldNum" sz="quarter" idx="12"/>
          </p:nvPr>
        </p:nvSpPr>
        <p:spPr/>
        <p:txBody>
          <a:bodyPr/>
          <a:lstStyle/>
          <a:p>
            <a:fld id="{3FCAF691-C30B-4477-A4FB-AFF7F164B000}" type="slidenum">
              <a:rPr lang="en-IN" smtClean="0"/>
              <a:pPr/>
              <a:t>4</a:t>
            </a:fld>
            <a:endParaRPr lang="en-IN"/>
          </a:p>
        </p:txBody>
      </p:sp>
      <p:pic>
        <p:nvPicPr>
          <p:cNvPr id="6" name="Picture 5">
            <a:extLst>
              <a:ext uri="{FF2B5EF4-FFF2-40B4-BE49-F238E27FC236}">
                <a16:creationId xmlns:a16="http://schemas.microsoft.com/office/drawing/2014/main" id="{781152C0-19D2-FFAA-8CF0-A4F8B3E31A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7" name="Rectangle 6">
            <a:extLst>
              <a:ext uri="{FF2B5EF4-FFF2-40B4-BE49-F238E27FC236}">
                <a16:creationId xmlns:a16="http://schemas.microsoft.com/office/drawing/2014/main" id="{0E22AE1D-8E77-925C-C17C-A4E9AC61B1D6}"/>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Tree>
    <p:extLst>
      <p:ext uri="{BB962C8B-B14F-4D97-AF65-F5344CB8AC3E}">
        <p14:creationId xmlns:p14="http://schemas.microsoft.com/office/powerpoint/2010/main" val="10671780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628650" y="0"/>
            <a:ext cx="7886700" cy="728004"/>
          </a:xfrm>
        </p:spPr>
        <p:txBody>
          <a:bodyPr>
            <a:normAutofit/>
          </a:bodyPr>
          <a:lstStyle/>
          <a:p>
            <a:pPr algn="ctr"/>
            <a:r>
              <a:rPr lang="en-US" sz="2700" b="1" u="sng" dirty="0">
                <a:latin typeface="Arial Rounded MT Bold" panose="020F0704030504030204" pitchFamily="34" charset="0"/>
              </a:rPr>
              <a:t>Objectives</a:t>
            </a:r>
            <a:endParaRPr lang="en-IN" sz="2700" b="1" u="sng" dirty="0">
              <a:latin typeface="Arial Rounded MT Bold" panose="020F0704030504030204" pitchFamily="34" charset="0"/>
            </a:endParaRPr>
          </a:p>
        </p:txBody>
      </p:sp>
      <p:sp>
        <p:nvSpPr>
          <p:cNvPr id="3" name="Content Placeholder 2">
            <a:extLst>
              <a:ext uri="{FF2B5EF4-FFF2-40B4-BE49-F238E27FC236}">
                <a16:creationId xmlns:a16="http://schemas.microsoft.com/office/drawing/2014/main" id="{48F90B0E-ED9E-4B65-820F-8F4890616EC9}"/>
              </a:ext>
            </a:extLst>
          </p:cNvPr>
          <p:cNvSpPr>
            <a:spLocks noGrp="1"/>
          </p:cNvSpPr>
          <p:nvPr>
            <p:ph idx="1"/>
          </p:nvPr>
        </p:nvSpPr>
        <p:spPr>
          <a:xfrm>
            <a:off x="628650" y="334537"/>
            <a:ext cx="7886700" cy="4294613"/>
          </a:xfrm>
        </p:spPr>
        <p:txBody>
          <a:bodyPr>
            <a:normAutofit fontScale="25000" lnSpcReduction="20000"/>
          </a:bodyPr>
          <a:lstStyle/>
          <a:p>
            <a:pPr marL="0" indent="0">
              <a:buNone/>
            </a:pPr>
            <a:endParaRPr lang="en-US" sz="1800" dirty="0">
              <a:latin typeface="Arial Rounded MT Bold" panose="020F0704030504030204" pitchFamily="34" charset="0"/>
            </a:endParaRPr>
          </a:p>
          <a:p>
            <a:pPr marL="342900" indent="-342900">
              <a:lnSpc>
                <a:spcPts val="3240"/>
              </a:lnSpc>
              <a:buSzPct val="100000"/>
            </a:pPr>
            <a:r>
              <a:rPr lang="en-US" sz="5500" dirty="0">
                <a:latin typeface="Arial Rounded MT Bold" panose="020F0704030504030204" pitchFamily="34" charset="0"/>
                <a:ea typeface="Arial" pitchFamily="34" charset="-122"/>
                <a:cs typeface="Arial" pitchFamily="34" charset="-120"/>
              </a:rPr>
              <a:t>To build an AI-powered file management system that can search files based on</a:t>
            </a:r>
            <a:br>
              <a:rPr lang="en-US" sz="5500" dirty="0">
                <a:latin typeface="Arial Rounded MT Bold" panose="020F0704030504030204" pitchFamily="34" charset="0"/>
                <a:ea typeface="Arial" pitchFamily="34" charset="-122"/>
                <a:cs typeface="Arial" pitchFamily="34" charset="-120"/>
              </a:rPr>
            </a:br>
            <a:r>
              <a:rPr lang="en-US" sz="5500" dirty="0">
                <a:latin typeface="Arial Rounded MT Bold" panose="020F0704030504030204" pitchFamily="34" charset="0"/>
                <a:ea typeface="Arial" pitchFamily="34" charset="-122"/>
                <a:cs typeface="Arial" pitchFamily="34" charset="-120"/>
              </a:rPr>
              <a:t>content and meaning.</a:t>
            </a:r>
          </a:p>
          <a:p>
            <a:pPr marL="342900" indent="-342900">
              <a:lnSpc>
                <a:spcPts val="3240"/>
              </a:lnSpc>
              <a:buSzPct val="100000"/>
            </a:pPr>
            <a:r>
              <a:rPr lang="en-US" sz="5500" dirty="0">
                <a:latin typeface="Arial Rounded MT Bold" panose="020F0704030504030204" pitchFamily="34" charset="0"/>
                <a:ea typeface="Arial" pitchFamily="34" charset="-122"/>
                <a:cs typeface="Arial" pitchFamily="34" charset="-120"/>
              </a:rPr>
              <a:t>To extract text from local PDF, DOCX, and TXT files and convert it into semantic embeddings</a:t>
            </a:r>
          </a:p>
          <a:p>
            <a:pPr marL="342900" indent="-342900">
              <a:lnSpc>
                <a:spcPts val="3240"/>
              </a:lnSpc>
              <a:buSzPct val="100000"/>
            </a:pPr>
            <a:r>
              <a:rPr lang="en-US" sz="5500" dirty="0">
                <a:latin typeface="Arial Rounded MT Bold" panose="020F0704030504030204" pitchFamily="34" charset="0"/>
                <a:ea typeface="Arial" pitchFamily="34" charset="-122"/>
                <a:cs typeface="Arial" pitchFamily="34" charset="-120"/>
              </a:rPr>
              <a:t>To store file representations in a vector database and support similarity-based retrieval.</a:t>
            </a:r>
          </a:p>
          <a:p>
            <a:pPr marL="342900" indent="-342900">
              <a:lnSpc>
                <a:spcPts val="3240"/>
              </a:lnSpc>
              <a:buSzPct val="100000"/>
            </a:pPr>
            <a:r>
              <a:rPr lang="en-US" sz="5500" dirty="0">
                <a:latin typeface="Arial Rounded MT Bold" panose="020F0704030504030204" pitchFamily="34" charset="0"/>
              </a:rPr>
              <a:t>To design a context-aware ranking mechanism using metadata like file type, recency, and topic.</a:t>
            </a:r>
          </a:p>
          <a:p>
            <a:pPr marL="342900" indent="-342900">
              <a:lnSpc>
                <a:spcPts val="3240"/>
              </a:lnSpc>
              <a:buSzPct val="100000"/>
            </a:pPr>
            <a:r>
              <a:rPr lang="en-US" sz="5500" dirty="0">
                <a:latin typeface="Arial Rounded MT Bold" panose="020F0704030504030204" pitchFamily="34" charset="0"/>
              </a:rPr>
              <a:t>To provide a simple UI for users to search using natural language queries</a:t>
            </a:r>
            <a:r>
              <a:rPr lang="en-US" sz="5500" dirty="0"/>
              <a:t>.</a:t>
            </a:r>
          </a:p>
          <a:p>
            <a:pPr marL="0" indent="0">
              <a:buNone/>
            </a:pPr>
            <a:endParaRPr lang="en-IN" sz="1800" dirty="0">
              <a:latin typeface="Arial Rounded MT Bold" panose="020F0704030504030204" pitchFamily="34" charset="0"/>
            </a:endParaRP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2" name="Rectangle 11"/>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
        <p:nvSpPr>
          <p:cNvPr id="13"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pPr/>
              <a:t>5</a:t>
            </a:fld>
            <a:endParaRPr lang="en-IN" sz="1200" b="1" dirty="0">
              <a:solidFill>
                <a:schemeClr val="tx1"/>
              </a:solidFill>
            </a:endParaRPr>
          </a:p>
        </p:txBody>
      </p:sp>
    </p:spTree>
    <p:extLst>
      <p:ext uri="{BB962C8B-B14F-4D97-AF65-F5344CB8AC3E}">
        <p14:creationId xmlns:p14="http://schemas.microsoft.com/office/powerpoint/2010/main" val="318630326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75DCE-973B-9E81-EA6D-61A5A556908D}"/>
              </a:ext>
            </a:extLst>
          </p:cNvPr>
          <p:cNvSpPr>
            <a:spLocks noGrp="1"/>
          </p:cNvSpPr>
          <p:nvPr>
            <p:ph type="title"/>
          </p:nvPr>
        </p:nvSpPr>
        <p:spPr/>
        <p:txBody>
          <a:bodyPr>
            <a:normAutofit/>
          </a:bodyPr>
          <a:lstStyle/>
          <a:p>
            <a:pPr algn="ctr"/>
            <a:r>
              <a:rPr lang="en-IN" sz="2700" u="sng" dirty="0">
                <a:latin typeface="Arial Rounded MT Bold" panose="020F0704030504030204" pitchFamily="34" charset="0"/>
              </a:rPr>
              <a:t>System Architecture</a:t>
            </a:r>
          </a:p>
        </p:txBody>
      </p:sp>
      <p:graphicFrame>
        <p:nvGraphicFramePr>
          <p:cNvPr id="6" name="Content Placeholder 5">
            <a:extLst>
              <a:ext uri="{FF2B5EF4-FFF2-40B4-BE49-F238E27FC236}">
                <a16:creationId xmlns:a16="http://schemas.microsoft.com/office/drawing/2014/main" id="{EAC1E224-2D9E-95FA-2DCC-3AF297172F8D}"/>
              </a:ext>
            </a:extLst>
          </p:cNvPr>
          <p:cNvGraphicFramePr>
            <a:graphicFrameLocks noGrp="1"/>
          </p:cNvGraphicFramePr>
          <p:nvPr>
            <p:ph idx="1"/>
            <p:extLst>
              <p:ext uri="{D42A27DB-BD31-4B8C-83A1-F6EECF244321}">
                <p14:modId xmlns:p14="http://schemas.microsoft.com/office/powerpoint/2010/main" val="1519647682"/>
              </p:ext>
            </p:extLst>
          </p:nvPr>
        </p:nvGraphicFramePr>
        <p:xfrm>
          <a:off x="628650" y="1370013"/>
          <a:ext cx="7886700" cy="3332480"/>
        </p:xfrm>
        <a:graphic>
          <a:graphicData uri="http://schemas.openxmlformats.org/drawingml/2006/table">
            <a:tbl>
              <a:tblPr firstRow="1" bandRow="1">
                <a:tableStyleId>{5C22544A-7EE6-4342-B048-85BDC9FD1C3A}</a:tableStyleId>
              </a:tblPr>
              <a:tblGrid>
                <a:gridCol w="3943350">
                  <a:extLst>
                    <a:ext uri="{9D8B030D-6E8A-4147-A177-3AD203B41FA5}">
                      <a16:colId xmlns:a16="http://schemas.microsoft.com/office/drawing/2014/main" val="1736628476"/>
                    </a:ext>
                  </a:extLst>
                </a:gridCol>
                <a:gridCol w="3943350">
                  <a:extLst>
                    <a:ext uri="{9D8B030D-6E8A-4147-A177-3AD203B41FA5}">
                      <a16:colId xmlns:a16="http://schemas.microsoft.com/office/drawing/2014/main" val="3526073544"/>
                    </a:ext>
                  </a:extLst>
                </a:gridCol>
              </a:tblGrid>
              <a:tr h="370840">
                <a:tc>
                  <a:txBody>
                    <a:bodyPr/>
                    <a:lstStyle/>
                    <a:p>
                      <a:r>
                        <a:rPr lang="en-IN" dirty="0"/>
                        <a:t>ARCHITECTURE COMPONENT</a:t>
                      </a:r>
                    </a:p>
                  </a:txBody>
                  <a:tcPr/>
                </a:tc>
                <a:tc>
                  <a:txBody>
                    <a:bodyPr/>
                    <a:lstStyle/>
                    <a:p>
                      <a:r>
                        <a:rPr lang="en-IN" dirty="0"/>
                        <a:t>DESCRIPTION</a:t>
                      </a:r>
                    </a:p>
                  </a:txBody>
                  <a:tcPr/>
                </a:tc>
                <a:extLst>
                  <a:ext uri="{0D108BD9-81ED-4DB2-BD59-A6C34878D82A}">
                    <a16:rowId xmlns:a16="http://schemas.microsoft.com/office/drawing/2014/main" val="1333005427"/>
                  </a:ext>
                </a:extLst>
              </a:tr>
              <a:tr h="370840">
                <a:tc>
                  <a:txBody>
                    <a:bodyPr/>
                    <a:lstStyle/>
                    <a:p>
                      <a:r>
                        <a:rPr lang="en-IN" dirty="0"/>
                        <a:t>Content Extraction :</a:t>
                      </a:r>
                    </a:p>
                  </a:txBody>
                  <a:tcPr/>
                </a:tc>
                <a:tc>
                  <a:txBody>
                    <a:bodyPr/>
                    <a:lstStyle/>
                    <a:p>
                      <a:r>
                        <a:rPr lang="en-IN" dirty="0"/>
                        <a:t>Extracts raw text from </a:t>
                      </a:r>
                      <a:r>
                        <a:rPr lang="en-IN" dirty="0" err="1"/>
                        <a:t>PDF,DOCX,and</a:t>
                      </a:r>
                      <a:r>
                        <a:rPr lang="en-IN" dirty="0"/>
                        <a:t> TXT files</a:t>
                      </a:r>
                    </a:p>
                  </a:txBody>
                  <a:tcPr/>
                </a:tc>
                <a:extLst>
                  <a:ext uri="{0D108BD9-81ED-4DB2-BD59-A6C34878D82A}">
                    <a16:rowId xmlns:a16="http://schemas.microsoft.com/office/drawing/2014/main" val="3655351878"/>
                  </a:ext>
                </a:extLst>
              </a:tr>
              <a:tr h="370840">
                <a:tc>
                  <a:txBody>
                    <a:bodyPr/>
                    <a:lstStyle/>
                    <a:p>
                      <a:r>
                        <a:rPr lang="en-IN" dirty="0"/>
                        <a:t>File Scanner :</a:t>
                      </a:r>
                    </a:p>
                  </a:txBody>
                  <a:tcPr/>
                </a:tc>
                <a:tc>
                  <a:txBody>
                    <a:bodyPr/>
                    <a:lstStyle/>
                    <a:p>
                      <a:r>
                        <a:rPr lang="en-IN" dirty="0"/>
                        <a:t>Recursively scans selected directories and collect file paths + metadata</a:t>
                      </a:r>
                    </a:p>
                  </a:txBody>
                  <a:tcPr/>
                </a:tc>
                <a:extLst>
                  <a:ext uri="{0D108BD9-81ED-4DB2-BD59-A6C34878D82A}">
                    <a16:rowId xmlns:a16="http://schemas.microsoft.com/office/drawing/2014/main" val="3195879563"/>
                  </a:ext>
                </a:extLst>
              </a:tr>
              <a:tr h="370840">
                <a:tc>
                  <a:txBody>
                    <a:bodyPr/>
                    <a:lstStyle/>
                    <a:p>
                      <a:r>
                        <a:rPr lang="en-IN" dirty="0"/>
                        <a:t>Vector Database :</a:t>
                      </a:r>
                    </a:p>
                  </a:txBody>
                  <a:tcPr/>
                </a:tc>
                <a:tc>
                  <a:txBody>
                    <a:bodyPr/>
                    <a:lstStyle/>
                    <a:p>
                      <a:r>
                        <a:rPr lang="en-IN" dirty="0"/>
                        <a:t>Stores embeddings and supports fast similarity search</a:t>
                      </a:r>
                    </a:p>
                  </a:txBody>
                  <a:tcPr/>
                </a:tc>
                <a:extLst>
                  <a:ext uri="{0D108BD9-81ED-4DB2-BD59-A6C34878D82A}">
                    <a16:rowId xmlns:a16="http://schemas.microsoft.com/office/drawing/2014/main" val="4086058862"/>
                  </a:ext>
                </a:extLst>
              </a:tr>
              <a:tr h="370840">
                <a:tc>
                  <a:txBody>
                    <a:bodyPr/>
                    <a:lstStyle/>
                    <a:p>
                      <a:r>
                        <a:rPr lang="en-IN" dirty="0"/>
                        <a:t>Context Engine :</a:t>
                      </a:r>
                    </a:p>
                  </a:txBody>
                  <a:tcPr/>
                </a:tc>
                <a:tc>
                  <a:txBody>
                    <a:bodyPr/>
                    <a:lstStyle/>
                    <a:p>
                      <a:r>
                        <a:rPr lang="en-IN" dirty="0"/>
                        <a:t>Add contextual information(</a:t>
                      </a:r>
                      <a:r>
                        <a:rPr lang="en-IN" dirty="0" err="1"/>
                        <a:t>topic,category,recency</a:t>
                      </a:r>
                      <a:r>
                        <a:rPr lang="en-IN" dirty="0"/>
                        <a:t>) and ranks results</a:t>
                      </a:r>
                    </a:p>
                  </a:txBody>
                  <a:tcPr/>
                </a:tc>
                <a:extLst>
                  <a:ext uri="{0D108BD9-81ED-4DB2-BD59-A6C34878D82A}">
                    <a16:rowId xmlns:a16="http://schemas.microsoft.com/office/drawing/2014/main" val="331140906"/>
                  </a:ext>
                </a:extLst>
              </a:tr>
              <a:tr h="370840">
                <a:tc>
                  <a:txBody>
                    <a:bodyPr/>
                    <a:lstStyle/>
                    <a:p>
                      <a:r>
                        <a:rPr lang="en-IN" dirty="0"/>
                        <a:t>Frontend UI :</a:t>
                      </a:r>
                    </a:p>
                  </a:txBody>
                  <a:tcPr/>
                </a:tc>
                <a:tc>
                  <a:txBody>
                    <a:bodyPr/>
                    <a:lstStyle/>
                    <a:p>
                      <a:r>
                        <a:rPr lang="en-IN" dirty="0"/>
                        <a:t>Provides search interface and displays ranked results to user</a:t>
                      </a:r>
                    </a:p>
                  </a:txBody>
                  <a:tcPr/>
                </a:tc>
                <a:extLst>
                  <a:ext uri="{0D108BD9-81ED-4DB2-BD59-A6C34878D82A}">
                    <a16:rowId xmlns:a16="http://schemas.microsoft.com/office/drawing/2014/main" val="781670943"/>
                  </a:ext>
                </a:extLst>
              </a:tr>
              <a:tr h="370840">
                <a:tc>
                  <a:txBody>
                    <a:bodyPr/>
                    <a:lstStyle/>
                    <a:p>
                      <a:r>
                        <a:rPr lang="en-IN" dirty="0"/>
                        <a:t>Embedding Module :</a:t>
                      </a:r>
                    </a:p>
                  </a:txBody>
                  <a:tcPr/>
                </a:tc>
                <a:tc>
                  <a:txBody>
                    <a:bodyPr/>
                    <a:lstStyle/>
                    <a:p>
                      <a:r>
                        <a:rPr lang="en-IN" dirty="0"/>
                        <a:t>Converts text into vector representation using Sentence Transformers</a:t>
                      </a:r>
                    </a:p>
                  </a:txBody>
                  <a:tcPr/>
                </a:tc>
                <a:extLst>
                  <a:ext uri="{0D108BD9-81ED-4DB2-BD59-A6C34878D82A}">
                    <a16:rowId xmlns:a16="http://schemas.microsoft.com/office/drawing/2014/main" val="3402045052"/>
                  </a:ext>
                </a:extLst>
              </a:tr>
            </a:tbl>
          </a:graphicData>
        </a:graphic>
      </p:graphicFrame>
      <p:sp>
        <p:nvSpPr>
          <p:cNvPr id="5" name="Slide Number Placeholder 4">
            <a:extLst>
              <a:ext uri="{FF2B5EF4-FFF2-40B4-BE49-F238E27FC236}">
                <a16:creationId xmlns:a16="http://schemas.microsoft.com/office/drawing/2014/main" id="{C7E9DDEE-3438-24D5-43DA-505F0B39095D}"/>
              </a:ext>
            </a:extLst>
          </p:cNvPr>
          <p:cNvSpPr>
            <a:spLocks noGrp="1"/>
          </p:cNvSpPr>
          <p:nvPr>
            <p:ph type="sldNum" sz="quarter" idx="12"/>
          </p:nvPr>
        </p:nvSpPr>
        <p:spPr/>
        <p:txBody>
          <a:bodyPr/>
          <a:lstStyle/>
          <a:p>
            <a:fld id="{3FCAF691-C30B-4477-A4FB-AFF7F164B000}" type="slidenum">
              <a:rPr lang="en-IN" smtClean="0"/>
              <a:pPr/>
              <a:t>6</a:t>
            </a:fld>
            <a:endParaRPr lang="en-IN"/>
          </a:p>
        </p:txBody>
      </p:sp>
      <p:pic>
        <p:nvPicPr>
          <p:cNvPr id="3" name="Picture 2">
            <a:extLst>
              <a:ext uri="{FF2B5EF4-FFF2-40B4-BE49-F238E27FC236}">
                <a16:creationId xmlns:a16="http://schemas.microsoft.com/office/drawing/2014/main" id="{9F57645D-0892-5EBA-0C36-3C35151ABC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7" name="Rectangle 6">
            <a:extLst>
              <a:ext uri="{FF2B5EF4-FFF2-40B4-BE49-F238E27FC236}">
                <a16:creationId xmlns:a16="http://schemas.microsoft.com/office/drawing/2014/main" id="{05BDF8AF-8CEB-AC9A-A5C2-A6F55AFA5D64}"/>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Tree>
    <p:extLst>
      <p:ext uri="{BB962C8B-B14F-4D97-AF65-F5344CB8AC3E}">
        <p14:creationId xmlns:p14="http://schemas.microsoft.com/office/powerpoint/2010/main" val="285925320"/>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DDDFDF-E84E-A718-5BA2-191E96A04EC8}"/>
              </a:ext>
            </a:extLst>
          </p:cNvPr>
          <p:cNvSpPr>
            <a:spLocks noGrp="1"/>
          </p:cNvSpPr>
          <p:nvPr>
            <p:ph type="title"/>
          </p:nvPr>
        </p:nvSpPr>
        <p:spPr>
          <a:xfrm>
            <a:off x="628650" y="-282498"/>
            <a:ext cx="7886700" cy="1152293"/>
          </a:xfrm>
        </p:spPr>
        <p:txBody>
          <a:bodyPr>
            <a:normAutofit/>
          </a:bodyPr>
          <a:lstStyle/>
          <a:p>
            <a:pPr algn="ctr"/>
            <a:r>
              <a:rPr lang="en-IN" sz="2700" u="sng" dirty="0">
                <a:latin typeface="Arial Rounded MT Bold" panose="020F0704030504030204" pitchFamily="34" charset="0"/>
              </a:rPr>
              <a:t>Proposed Solution</a:t>
            </a:r>
          </a:p>
        </p:txBody>
      </p:sp>
      <p:sp>
        <p:nvSpPr>
          <p:cNvPr id="3" name="Content Placeholder 2">
            <a:extLst>
              <a:ext uri="{FF2B5EF4-FFF2-40B4-BE49-F238E27FC236}">
                <a16:creationId xmlns:a16="http://schemas.microsoft.com/office/drawing/2014/main" id="{567BCF99-0A59-7311-719C-CF7CFA4543D9}"/>
              </a:ext>
            </a:extLst>
          </p:cNvPr>
          <p:cNvSpPr>
            <a:spLocks noGrp="1"/>
          </p:cNvSpPr>
          <p:nvPr>
            <p:ph idx="1"/>
          </p:nvPr>
        </p:nvSpPr>
        <p:spPr>
          <a:xfrm>
            <a:off x="628650" y="631902"/>
            <a:ext cx="7886700" cy="4135361"/>
          </a:xfrm>
        </p:spPr>
        <p:txBody>
          <a:bodyPr>
            <a:normAutofit fontScale="25000" lnSpcReduction="20000"/>
          </a:bodyPr>
          <a:lstStyle/>
          <a:p>
            <a:pPr marL="342900" indent="-342900">
              <a:lnSpc>
                <a:spcPts val="3240"/>
              </a:lnSpc>
              <a:buSzPct val="100000"/>
            </a:pPr>
            <a:r>
              <a:rPr lang="en-US" sz="5600" dirty="0">
                <a:latin typeface="Arial Rounded MT Bold" panose="020F0704030504030204" pitchFamily="34" charset="0"/>
                <a:ea typeface="Arial" pitchFamily="34" charset="-122"/>
                <a:cs typeface="Arial" pitchFamily="34" charset="-120"/>
              </a:rPr>
              <a:t>We propose </a:t>
            </a:r>
            <a:r>
              <a:rPr lang="en-US" sz="5600" dirty="0" err="1">
                <a:latin typeface="Arial Rounded MT Bold" panose="020F0704030504030204" pitchFamily="34" charset="0"/>
                <a:ea typeface="Arial" pitchFamily="34" charset="-122"/>
                <a:cs typeface="Arial" pitchFamily="34" charset="-120"/>
              </a:rPr>
              <a:t>NeuroDrive</a:t>
            </a:r>
            <a:r>
              <a:rPr lang="en-US" sz="5600" dirty="0">
                <a:latin typeface="Arial Rounded MT Bold" panose="020F0704030504030204" pitchFamily="34" charset="0"/>
                <a:ea typeface="Arial" pitchFamily="34" charset="-122"/>
                <a:cs typeface="Arial" pitchFamily="34" charset="-120"/>
              </a:rPr>
              <a:t>, a context-aware semantic file system for local machines.</a:t>
            </a:r>
          </a:p>
          <a:p>
            <a:pPr marL="342900" indent="-342900">
              <a:lnSpc>
                <a:spcPts val="3240"/>
              </a:lnSpc>
              <a:buSzPct val="100000"/>
            </a:pPr>
            <a:r>
              <a:rPr lang="en-US" sz="5600" dirty="0">
                <a:latin typeface="Arial Rounded MT Bold" panose="020F0704030504030204" pitchFamily="34" charset="0"/>
                <a:ea typeface="Arial" pitchFamily="34" charset="-122"/>
                <a:cs typeface="Arial" pitchFamily="34" charset="-120"/>
              </a:rPr>
              <a:t>The system scans user-selected folders, extracts text from documents, and generates embeddings using NLP models.</a:t>
            </a:r>
          </a:p>
          <a:p>
            <a:pPr marL="342900" indent="-342900">
              <a:lnSpc>
                <a:spcPts val="3240"/>
              </a:lnSpc>
              <a:buSzPct val="100000"/>
            </a:pPr>
            <a:r>
              <a:rPr lang="en-US" sz="5600" dirty="0">
                <a:latin typeface="Arial Rounded MT Bold" panose="020F0704030504030204" pitchFamily="34" charset="0"/>
                <a:ea typeface="Arial" pitchFamily="34" charset="-122"/>
                <a:cs typeface="Arial" pitchFamily="34" charset="-120"/>
              </a:rPr>
              <a:t>A vector database (e.g., FAISS) is used to support semantic similarity search.</a:t>
            </a:r>
          </a:p>
          <a:p>
            <a:pPr marL="342900" indent="-342900">
              <a:lnSpc>
                <a:spcPts val="3240"/>
              </a:lnSpc>
              <a:buSzPct val="100000"/>
            </a:pPr>
            <a:r>
              <a:rPr lang="en-US" sz="5600" dirty="0">
                <a:latin typeface="Arial Rounded MT Bold" panose="020F0704030504030204" pitchFamily="34" charset="0"/>
                <a:ea typeface="Arial" pitchFamily="34" charset="-122"/>
                <a:cs typeface="Arial" pitchFamily="34" charset="-120"/>
              </a:rPr>
              <a:t>A context engine adds information such as document category, topic, and recency.</a:t>
            </a:r>
          </a:p>
          <a:p>
            <a:pPr marL="342900" indent="-342900">
              <a:lnSpc>
                <a:spcPts val="3240"/>
              </a:lnSpc>
              <a:buSzPct val="100000"/>
            </a:pPr>
            <a:r>
              <a:rPr lang="en-US" sz="5600" dirty="0">
                <a:latin typeface="Arial Rounded MT Bold" panose="020F0704030504030204" pitchFamily="34" charset="0"/>
                <a:ea typeface="Arial" pitchFamily="34" charset="-122"/>
                <a:cs typeface="Arial" pitchFamily="34" charset="-120"/>
              </a:rPr>
              <a:t>A frontend interface (</a:t>
            </a:r>
            <a:r>
              <a:rPr lang="en-US" sz="5600" dirty="0" err="1">
                <a:latin typeface="Arial Rounded MT Bold" panose="020F0704030504030204" pitchFamily="34" charset="0"/>
                <a:ea typeface="Arial" pitchFamily="34" charset="-122"/>
                <a:cs typeface="Arial" pitchFamily="34" charset="-120"/>
              </a:rPr>
              <a:t>Streamlit</a:t>
            </a:r>
            <a:r>
              <a:rPr lang="en-US" sz="5600" dirty="0">
                <a:latin typeface="Arial Rounded MT Bold" panose="020F0704030504030204" pitchFamily="34" charset="0"/>
                <a:ea typeface="Arial" pitchFamily="34" charset="-122"/>
                <a:cs typeface="Arial" pitchFamily="34" charset="-120"/>
              </a:rPr>
              <a:t>) allows users to search using natural language queries and view ranked results.</a:t>
            </a:r>
            <a:endParaRPr lang="en-US" sz="5600" dirty="0">
              <a:latin typeface="Arial Rounded MT Bold" panose="020F0704030504030204" pitchFamily="34" charset="0"/>
            </a:endParaRPr>
          </a:p>
          <a:p>
            <a:endParaRPr lang="en-IN" dirty="0"/>
          </a:p>
        </p:txBody>
      </p:sp>
      <p:sp>
        <p:nvSpPr>
          <p:cNvPr id="5" name="Slide Number Placeholder 4">
            <a:extLst>
              <a:ext uri="{FF2B5EF4-FFF2-40B4-BE49-F238E27FC236}">
                <a16:creationId xmlns:a16="http://schemas.microsoft.com/office/drawing/2014/main" id="{C68DA0A1-BF55-3B6A-F2B5-CAF005351CED}"/>
              </a:ext>
            </a:extLst>
          </p:cNvPr>
          <p:cNvSpPr>
            <a:spLocks noGrp="1"/>
          </p:cNvSpPr>
          <p:nvPr>
            <p:ph type="sldNum" sz="quarter" idx="12"/>
          </p:nvPr>
        </p:nvSpPr>
        <p:spPr/>
        <p:txBody>
          <a:bodyPr/>
          <a:lstStyle/>
          <a:p>
            <a:fld id="{3FCAF691-C30B-4477-A4FB-AFF7F164B000}" type="slidenum">
              <a:rPr lang="en-IN" smtClean="0"/>
              <a:pPr/>
              <a:t>7</a:t>
            </a:fld>
            <a:endParaRPr lang="en-IN" dirty="0"/>
          </a:p>
        </p:txBody>
      </p:sp>
      <p:pic>
        <p:nvPicPr>
          <p:cNvPr id="6" name="Picture 5">
            <a:extLst>
              <a:ext uri="{FF2B5EF4-FFF2-40B4-BE49-F238E27FC236}">
                <a16:creationId xmlns:a16="http://schemas.microsoft.com/office/drawing/2014/main" id="{C98693BA-07FB-68B4-F76F-69A07D6B23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7" name="Rectangle 6">
            <a:extLst>
              <a:ext uri="{FF2B5EF4-FFF2-40B4-BE49-F238E27FC236}">
                <a16:creationId xmlns:a16="http://schemas.microsoft.com/office/drawing/2014/main" id="{2536B3A5-93D7-5D3C-945D-B56E9277689A}"/>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Tree>
    <p:extLst>
      <p:ext uri="{BB962C8B-B14F-4D97-AF65-F5344CB8AC3E}">
        <p14:creationId xmlns:p14="http://schemas.microsoft.com/office/powerpoint/2010/main" val="375348628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C2193-6239-1FD0-DD16-CF81524E12C1}"/>
              </a:ext>
            </a:extLst>
          </p:cNvPr>
          <p:cNvSpPr>
            <a:spLocks noGrp="1"/>
          </p:cNvSpPr>
          <p:nvPr>
            <p:ph type="title"/>
          </p:nvPr>
        </p:nvSpPr>
        <p:spPr>
          <a:xfrm>
            <a:off x="628650" y="-245327"/>
            <a:ext cx="7886700" cy="1513343"/>
          </a:xfrm>
        </p:spPr>
        <p:txBody>
          <a:bodyPr>
            <a:normAutofit/>
          </a:bodyPr>
          <a:lstStyle/>
          <a:p>
            <a:pPr algn="ctr"/>
            <a:r>
              <a:rPr lang="en-IN" sz="2700" u="sng" dirty="0">
                <a:latin typeface="Arial Rounded MT Bold" panose="020F0704030504030204" pitchFamily="34" charset="0"/>
              </a:rPr>
              <a:t>Module-wise System Design</a:t>
            </a:r>
          </a:p>
        </p:txBody>
      </p:sp>
      <p:sp>
        <p:nvSpPr>
          <p:cNvPr id="4" name="Footer Placeholder 3">
            <a:extLst>
              <a:ext uri="{FF2B5EF4-FFF2-40B4-BE49-F238E27FC236}">
                <a16:creationId xmlns:a16="http://schemas.microsoft.com/office/drawing/2014/main" id="{4E3AA137-45AF-0A7F-426A-E593B4B8217B}"/>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FF9A14FA-158B-355A-0BC5-088AA0875D87}"/>
              </a:ext>
            </a:extLst>
          </p:cNvPr>
          <p:cNvSpPr>
            <a:spLocks noGrp="1"/>
          </p:cNvSpPr>
          <p:nvPr>
            <p:ph type="sldNum" sz="quarter" idx="12"/>
          </p:nvPr>
        </p:nvSpPr>
        <p:spPr/>
        <p:txBody>
          <a:bodyPr/>
          <a:lstStyle/>
          <a:p>
            <a:fld id="{3FCAF691-C30B-4477-A4FB-AFF7F164B000}" type="slidenum">
              <a:rPr lang="en-IN" smtClean="0"/>
              <a:pPr/>
              <a:t>8</a:t>
            </a:fld>
            <a:endParaRPr lang="en-IN"/>
          </a:p>
        </p:txBody>
      </p:sp>
      <p:sp>
        <p:nvSpPr>
          <p:cNvPr id="6" name="Rectangle 5">
            <a:extLst>
              <a:ext uri="{FF2B5EF4-FFF2-40B4-BE49-F238E27FC236}">
                <a16:creationId xmlns:a16="http://schemas.microsoft.com/office/drawing/2014/main" id="{B78233E1-7396-6E02-249A-735B8F6D41D9}"/>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Nos. of the Students, Department of Engineering, Sciences and Humanities, VIT, Pune-37</a:t>
            </a:r>
          </a:p>
        </p:txBody>
      </p:sp>
      <p:pic>
        <p:nvPicPr>
          <p:cNvPr id="7" name="Picture 6">
            <a:extLst>
              <a:ext uri="{FF2B5EF4-FFF2-40B4-BE49-F238E27FC236}">
                <a16:creationId xmlns:a16="http://schemas.microsoft.com/office/drawing/2014/main" id="{AA7CF9C4-84A3-568E-3821-DB0670528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0" name="Rectangle 9">
            <a:extLst>
              <a:ext uri="{FF2B5EF4-FFF2-40B4-BE49-F238E27FC236}">
                <a16:creationId xmlns:a16="http://schemas.microsoft.com/office/drawing/2014/main" id="{395B51C1-E5AD-E5FE-9191-4DF9D5D3B274}"/>
              </a:ext>
            </a:extLst>
          </p:cNvPr>
          <p:cNvSpPr/>
          <p:nvPr/>
        </p:nvSpPr>
        <p:spPr>
          <a:xfrm>
            <a:off x="-2"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dirty="0">
                <a:solidFill>
                  <a:schemeClr val="tx1"/>
                </a:solidFill>
              </a:rPr>
              <a:t>Roll No:61,62,63,64,65, Department of Engineering, Sciences and Humanities, VIT, Pune-37                            10</a:t>
            </a:r>
          </a:p>
        </p:txBody>
      </p:sp>
      <p:sp>
        <p:nvSpPr>
          <p:cNvPr id="9" name="Content Placeholder 8">
            <a:extLst>
              <a:ext uri="{FF2B5EF4-FFF2-40B4-BE49-F238E27FC236}">
                <a16:creationId xmlns:a16="http://schemas.microsoft.com/office/drawing/2014/main" id="{60B13E30-FDEF-5B10-9618-D822AA6CDD1E}"/>
              </a:ext>
            </a:extLst>
          </p:cNvPr>
          <p:cNvSpPr>
            <a:spLocks noGrp="1"/>
          </p:cNvSpPr>
          <p:nvPr>
            <p:ph idx="1"/>
          </p:nvPr>
        </p:nvSpPr>
        <p:spPr>
          <a:xfrm>
            <a:off x="628650" y="1064672"/>
            <a:ext cx="7886700" cy="3568051"/>
          </a:xfrm>
        </p:spPr>
        <p:txBody>
          <a:bodyPr>
            <a:normAutofit fontScale="85000" lnSpcReduction="20000"/>
          </a:bodyPr>
          <a:lstStyle/>
          <a:p>
            <a:r>
              <a:rPr lang="en-IN" b="1" dirty="0">
                <a:latin typeface="Arial Rounded MT Bold" panose="020F0704030504030204" pitchFamily="34" charset="0"/>
              </a:rPr>
              <a:t>Module 1 – Backend &amp; API :</a:t>
            </a:r>
            <a:endParaRPr lang="en-IN" dirty="0">
              <a:latin typeface="Arial Rounded MT Bold" panose="020F0704030504030204" pitchFamily="34" charset="0"/>
            </a:endParaRPr>
          </a:p>
          <a:p>
            <a:pPr lvl="1"/>
            <a:r>
              <a:rPr lang="en-IN" dirty="0" err="1">
                <a:latin typeface="Arial Rounded MT Bold" panose="020F0704030504030204" pitchFamily="34" charset="0"/>
              </a:rPr>
              <a:t>FastAPI</a:t>
            </a:r>
            <a:r>
              <a:rPr lang="en-IN" dirty="0">
                <a:latin typeface="Arial Rounded MT Bold" panose="020F0704030504030204" pitchFamily="34" charset="0"/>
              </a:rPr>
              <a:t>-based backend, routes for scanning, indexing, and searching</a:t>
            </a:r>
          </a:p>
          <a:p>
            <a:pPr lvl="1"/>
            <a:r>
              <a:rPr lang="en-IN" dirty="0">
                <a:latin typeface="Arial Rounded MT Bold" panose="020F0704030504030204" pitchFamily="34" charset="0"/>
              </a:rPr>
              <a:t>.</a:t>
            </a:r>
          </a:p>
          <a:p>
            <a:r>
              <a:rPr lang="en-IN" b="1" dirty="0">
                <a:latin typeface="Arial Rounded MT Bold" panose="020F0704030504030204" pitchFamily="34" charset="0"/>
              </a:rPr>
              <a:t>Module 2 – File Scanner &amp; Extraction :</a:t>
            </a:r>
            <a:endParaRPr lang="en-IN" dirty="0">
              <a:latin typeface="Arial Rounded MT Bold" panose="020F0704030504030204" pitchFamily="34" charset="0"/>
            </a:endParaRPr>
          </a:p>
          <a:p>
            <a:pPr lvl="1"/>
            <a:r>
              <a:rPr lang="en-IN" dirty="0">
                <a:latin typeface="Arial Rounded MT Bold" panose="020F0704030504030204" pitchFamily="34" charset="0"/>
              </a:rPr>
              <a:t>Directory scanning and text extraction from PDF/DOCX/TXT files.</a:t>
            </a:r>
          </a:p>
          <a:p>
            <a:pPr lvl="1"/>
            <a:endParaRPr lang="en-IN" dirty="0">
              <a:latin typeface="Arial Rounded MT Bold" panose="020F0704030504030204" pitchFamily="34" charset="0"/>
            </a:endParaRPr>
          </a:p>
          <a:p>
            <a:r>
              <a:rPr lang="en-IN" b="1" dirty="0">
                <a:latin typeface="Arial Rounded MT Bold" panose="020F0704030504030204" pitchFamily="34" charset="0"/>
              </a:rPr>
              <a:t>Module 3 – Embeddings &amp; Vector DB :</a:t>
            </a:r>
            <a:endParaRPr lang="en-IN" dirty="0">
              <a:latin typeface="Arial Rounded MT Bold" panose="020F0704030504030204" pitchFamily="34" charset="0"/>
            </a:endParaRPr>
          </a:p>
          <a:p>
            <a:pPr lvl="1"/>
            <a:r>
              <a:rPr lang="en-IN" dirty="0" err="1">
                <a:latin typeface="Arial Rounded MT Bold" panose="020F0704030504030204" pitchFamily="34" charset="0"/>
              </a:rPr>
              <a:t>SentenceTransformer</a:t>
            </a:r>
            <a:r>
              <a:rPr lang="en-IN" dirty="0">
                <a:latin typeface="Arial Rounded MT Bold" panose="020F0704030504030204" pitchFamily="34" charset="0"/>
              </a:rPr>
              <a:t>-based embeddings and FAISS vector index.</a:t>
            </a:r>
          </a:p>
          <a:p>
            <a:pPr lvl="1"/>
            <a:endParaRPr lang="en-IN" dirty="0">
              <a:latin typeface="Arial Rounded MT Bold" panose="020F0704030504030204" pitchFamily="34" charset="0"/>
            </a:endParaRPr>
          </a:p>
          <a:p>
            <a:r>
              <a:rPr lang="en-IN" b="1" dirty="0">
                <a:latin typeface="Arial Rounded MT Bold" panose="020F0704030504030204" pitchFamily="34" charset="0"/>
              </a:rPr>
              <a:t>Module 4 – Context Engine &amp; Ranking :</a:t>
            </a:r>
            <a:endParaRPr lang="en-IN" dirty="0">
              <a:latin typeface="Arial Rounded MT Bold" panose="020F0704030504030204" pitchFamily="34" charset="0"/>
            </a:endParaRPr>
          </a:p>
          <a:p>
            <a:pPr lvl="1"/>
            <a:r>
              <a:rPr lang="en-IN" dirty="0">
                <a:latin typeface="Arial Rounded MT Bold" panose="020F0704030504030204" pitchFamily="34" charset="0"/>
              </a:rPr>
              <a:t>Topic/category detection and ranking logic for results.</a:t>
            </a:r>
          </a:p>
          <a:p>
            <a:pPr lvl="1"/>
            <a:endParaRPr lang="en-IN" dirty="0">
              <a:latin typeface="Arial Rounded MT Bold" panose="020F0704030504030204" pitchFamily="34" charset="0"/>
            </a:endParaRPr>
          </a:p>
          <a:p>
            <a:r>
              <a:rPr lang="en-IN" b="1" dirty="0">
                <a:latin typeface="Arial Rounded MT Bold" panose="020F0704030504030204" pitchFamily="34" charset="0"/>
              </a:rPr>
              <a:t>Module 5 – Frontend UI :</a:t>
            </a:r>
            <a:endParaRPr lang="en-IN" dirty="0">
              <a:latin typeface="Arial Rounded MT Bold" panose="020F0704030504030204" pitchFamily="34" charset="0"/>
            </a:endParaRPr>
          </a:p>
          <a:p>
            <a:pPr lvl="1"/>
            <a:r>
              <a:rPr lang="en-IN" dirty="0" err="1">
                <a:latin typeface="Arial Rounded MT Bold" panose="020F0704030504030204" pitchFamily="34" charset="0"/>
              </a:rPr>
              <a:t>Streamlit</a:t>
            </a:r>
            <a:r>
              <a:rPr lang="en-IN" dirty="0">
                <a:latin typeface="Arial Rounded MT Bold" panose="020F0704030504030204" pitchFamily="34" charset="0"/>
              </a:rPr>
              <a:t>-based UI for user interaction and result visualization.</a:t>
            </a:r>
          </a:p>
          <a:p>
            <a:pPr marL="0" indent="0">
              <a:buNone/>
            </a:pPr>
            <a:endParaRPr lang="en-IN" dirty="0"/>
          </a:p>
        </p:txBody>
      </p:sp>
    </p:spTree>
    <p:extLst>
      <p:ext uri="{BB962C8B-B14F-4D97-AF65-F5344CB8AC3E}">
        <p14:creationId xmlns:p14="http://schemas.microsoft.com/office/powerpoint/2010/main" val="217234778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1E2BB-C55C-26E3-14BE-3D8F631E9536}"/>
              </a:ext>
            </a:extLst>
          </p:cNvPr>
          <p:cNvSpPr>
            <a:spLocks noGrp="1"/>
          </p:cNvSpPr>
          <p:nvPr>
            <p:ph type="title"/>
          </p:nvPr>
        </p:nvSpPr>
        <p:spPr>
          <a:xfrm>
            <a:off x="628650" y="273844"/>
            <a:ext cx="7886700" cy="454819"/>
          </a:xfrm>
        </p:spPr>
        <p:txBody>
          <a:bodyPr>
            <a:normAutofit/>
          </a:bodyPr>
          <a:lstStyle/>
          <a:p>
            <a:pPr algn="ctr"/>
            <a:r>
              <a:rPr lang="en-IN" sz="2700" u="sng" dirty="0">
                <a:latin typeface="Arial Rounded MT Bold" panose="020F0704030504030204" pitchFamily="34" charset="0"/>
              </a:rPr>
              <a:t>Technologies &amp; Tools</a:t>
            </a:r>
          </a:p>
        </p:txBody>
      </p:sp>
      <p:sp>
        <p:nvSpPr>
          <p:cNvPr id="3" name="Content Placeholder 2">
            <a:extLst>
              <a:ext uri="{FF2B5EF4-FFF2-40B4-BE49-F238E27FC236}">
                <a16:creationId xmlns:a16="http://schemas.microsoft.com/office/drawing/2014/main" id="{F85A127B-9536-A986-7D03-3C68FFB29215}"/>
              </a:ext>
            </a:extLst>
          </p:cNvPr>
          <p:cNvSpPr>
            <a:spLocks noGrp="1"/>
          </p:cNvSpPr>
          <p:nvPr>
            <p:ph idx="1"/>
          </p:nvPr>
        </p:nvSpPr>
        <p:spPr>
          <a:xfrm>
            <a:off x="628650" y="728663"/>
            <a:ext cx="7886700" cy="3904060"/>
          </a:xfrm>
        </p:spPr>
        <p:txBody>
          <a:bodyPr>
            <a:normAutofit fontScale="77500" lnSpcReduction="20000"/>
          </a:bodyPr>
          <a:lstStyle/>
          <a:p>
            <a:pPr marL="342900" indent="-342900">
              <a:lnSpc>
                <a:spcPts val="3240"/>
              </a:lnSpc>
              <a:buSzPct val="100000"/>
            </a:pPr>
            <a:r>
              <a:rPr lang="en-US" sz="2300" b="1" dirty="0">
                <a:latin typeface="Arial Rounded MT Bold" panose="020F0704030504030204" pitchFamily="34" charset="0"/>
                <a:ea typeface="Arial" pitchFamily="34" charset="-122"/>
                <a:cs typeface="Arial" pitchFamily="34" charset="-120"/>
              </a:rPr>
              <a:t>Programming Language: Python</a:t>
            </a:r>
          </a:p>
          <a:p>
            <a:pPr marL="342900" indent="-342900">
              <a:lnSpc>
                <a:spcPts val="3240"/>
              </a:lnSpc>
              <a:buSzPct val="100000"/>
            </a:pPr>
            <a:r>
              <a:rPr lang="en-US" sz="2300" b="1" dirty="0">
                <a:latin typeface="Arial Rounded MT Bold" panose="020F0704030504030204" pitchFamily="34" charset="0"/>
                <a:ea typeface="Arial" pitchFamily="34" charset="-122"/>
                <a:cs typeface="Arial" pitchFamily="34" charset="-120"/>
              </a:rPr>
              <a:t>Backend Framework: </a:t>
            </a:r>
            <a:r>
              <a:rPr lang="en-US" sz="2300" b="1" dirty="0" err="1">
                <a:latin typeface="Arial Rounded MT Bold" panose="020F0704030504030204" pitchFamily="34" charset="0"/>
                <a:ea typeface="Arial" pitchFamily="34" charset="-122"/>
                <a:cs typeface="Arial" pitchFamily="34" charset="-120"/>
              </a:rPr>
              <a:t>FastAPi</a:t>
            </a:r>
            <a:endParaRPr lang="en-US" sz="2300" b="1" dirty="0">
              <a:latin typeface="Arial Rounded MT Bold" panose="020F0704030504030204" pitchFamily="34" charset="0"/>
              <a:ea typeface="Arial" pitchFamily="34" charset="-122"/>
              <a:cs typeface="Arial" pitchFamily="34" charset="-120"/>
            </a:endParaRPr>
          </a:p>
          <a:p>
            <a:pPr marL="342900" indent="-342900">
              <a:lnSpc>
                <a:spcPts val="3240"/>
              </a:lnSpc>
              <a:buSzPct val="100000"/>
            </a:pPr>
            <a:r>
              <a:rPr lang="en-US" sz="2300" b="1" dirty="0">
                <a:latin typeface="Arial Rounded MT Bold" panose="020F0704030504030204" pitchFamily="34" charset="0"/>
                <a:ea typeface="Arial" pitchFamily="34" charset="-122"/>
                <a:cs typeface="Arial" pitchFamily="34" charset="-120"/>
              </a:rPr>
              <a:t>Vector Database:</a:t>
            </a:r>
            <a:r>
              <a:rPr lang="en-US" sz="2300" dirty="0">
                <a:latin typeface="Arial Rounded MT Bold" panose="020F0704030504030204" pitchFamily="34" charset="0"/>
                <a:ea typeface="Arial" pitchFamily="34" charset="-122"/>
                <a:cs typeface="Arial" pitchFamily="34" charset="-120"/>
              </a:rPr>
              <a:t> FAISS </a:t>
            </a:r>
            <a:endParaRPr lang="en-US" sz="2300" dirty="0">
              <a:latin typeface="Arial Rounded MT Bold" panose="020F0704030504030204" pitchFamily="34" charset="0"/>
            </a:endParaRPr>
          </a:p>
          <a:p>
            <a:pPr marL="342900" indent="-342900">
              <a:lnSpc>
                <a:spcPts val="3240"/>
              </a:lnSpc>
              <a:buSzPct val="100000"/>
            </a:pPr>
            <a:r>
              <a:rPr lang="en-US" sz="2300" b="1" dirty="0">
                <a:latin typeface="Arial Rounded MT Bold" panose="020F0704030504030204" pitchFamily="34" charset="0"/>
                <a:ea typeface="Arial" pitchFamily="34" charset="-122"/>
                <a:cs typeface="Arial" pitchFamily="34" charset="-120"/>
              </a:rPr>
              <a:t>File Processing:</a:t>
            </a:r>
            <a:r>
              <a:rPr lang="en-US" sz="2300" dirty="0">
                <a:latin typeface="Arial Rounded MT Bold" panose="020F0704030504030204" pitchFamily="34" charset="0"/>
                <a:ea typeface="Arial" pitchFamily="34" charset="-122"/>
                <a:cs typeface="Arial" pitchFamily="34" charset="-120"/>
              </a:rPr>
              <a:t> </a:t>
            </a:r>
            <a:r>
              <a:rPr lang="en-US" sz="2300" dirty="0" err="1">
                <a:latin typeface="Arial Rounded MT Bold" panose="020F0704030504030204" pitchFamily="34" charset="0"/>
                <a:ea typeface="Arial" pitchFamily="34" charset="-122"/>
                <a:cs typeface="Arial" pitchFamily="34" charset="-120"/>
              </a:rPr>
              <a:t>PyPDF</a:t>
            </a:r>
            <a:r>
              <a:rPr lang="en-US" sz="2300" dirty="0">
                <a:latin typeface="Arial Rounded MT Bold" panose="020F0704030504030204" pitchFamily="34" charset="0"/>
                <a:ea typeface="Arial" pitchFamily="34" charset="-122"/>
                <a:cs typeface="Arial" pitchFamily="34" charset="-120"/>
              </a:rPr>
              <a:t>, python-docx</a:t>
            </a:r>
            <a:endParaRPr lang="en-US" sz="2300" dirty="0">
              <a:latin typeface="Arial Rounded MT Bold" panose="020F0704030504030204" pitchFamily="34" charset="0"/>
            </a:endParaRPr>
          </a:p>
          <a:p>
            <a:pPr marL="342900" indent="-342900">
              <a:lnSpc>
                <a:spcPts val="3240"/>
              </a:lnSpc>
              <a:buSzPct val="100000"/>
            </a:pPr>
            <a:r>
              <a:rPr lang="en-US" sz="2300" b="1" dirty="0">
                <a:latin typeface="Arial Rounded MT Bold" panose="020F0704030504030204" pitchFamily="34" charset="0"/>
                <a:ea typeface="Arial" pitchFamily="34" charset="-122"/>
                <a:cs typeface="Arial" pitchFamily="34" charset="-120"/>
              </a:rPr>
              <a:t>Frontend:</a:t>
            </a:r>
            <a:r>
              <a:rPr lang="en-US" sz="2300" dirty="0">
                <a:latin typeface="Arial Rounded MT Bold" panose="020F0704030504030204" pitchFamily="34" charset="0"/>
                <a:ea typeface="Arial" pitchFamily="34" charset="-122"/>
                <a:cs typeface="Arial" pitchFamily="34" charset="-120"/>
              </a:rPr>
              <a:t> </a:t>
            </a:r>
            <a:r>
              <a:rPr lang="en-US" sz="2300" dirty="0" err="1">
                <a:latin typeface="Arial Rounded MT Bold" panose="020F0704030504030204" pitchFamily="34" charset="0"/>
                <a:ea typeface="Arial" pitchFamily="34" charset="-122"/>
                <a:cs typeface="Arial" pitchFamily="34" charset="-120"/>
              </a:rPr>
              <a:t>Streamlit</a:t>
            </a:r>
            <a:r>
              <a:rPr lang="en-US" sz="2300" dirty="0">
                <a:latin typeface="Arial Rounded MT Bold" panose="020F0704030504030204" pitchFamily="34" charset="0"/>
                <a:ea typeface="Arial" pitchFamily="34" charset="-122"/>
                <a:cs typeface="Arial" pitchFamily="34" charset="-120"/>
              </a:rPr>
              <a:t> </a:t>
            </a:r>
          </a:p>
          <a:p>
            <a:pPr marL="342900" indent="-342900">
              <a:lnSpc>
                <a:spcPts val="3240"/>
              </a:lnSpc>
              <a:buSzPct val="100000"/>
            </a:pPr>
            <a:r>
              <a:rPr lang="en-US" sz="2300" b="1" dirty="0">
                <a:latin typeface="Arial Rounded MT Bold" panose="020F0704030504030204" pitchFamily="34" charset="0"/>
                <a:ea typeface="Arial" pitchFamily="34" charset="-122"/>
                <a:cs typeface="Arial" pitchFamily="34" charset="-120"/>
              </a:rPr>
              <a:t>NLP/Embeddings: </a:t>
            </a:r>
            <a:r>
              <a:rPr lang="en-US" sz="2300" dirty="0" err="1">
                <a:latin typeface="Arial Rounded MT Bold" panose="020F0704030504030204" pitchFamily="34" charset="0"/>
                <a:ea typeface="Arial" pitchFamily="34" charset="-122"/>
                <a:cs typeface="Arial" pitchFamily="34" charset="-120"/>
              </a:rPr>
              <a:t>SentenceTransformers</a:t>
            </a:r>
            <a:r>
              <a:rPr lang="en-US" sz="2300" dirty="0">
                <a:latin typeface="Arial Rounded MT Bold" panose="020F0704030504030204" pitchFamily="34" charset="0"/>
                <a:ea typeface="Arial" pitchFamily="34" charset="-122"/>
                <a:cs typeface="Arial" pitchFamily="34" charset="-120"/>
              </a:rPr>
              <a:t> (e.g., all-MiniLM-L6-v2)</a:t>
            </a:r>
          </a:p>
          <a:p>
            <a:pPr marL="342900" indent="-342900">
              <a:lnSpc>
                <a:spcPts val="3240"/>
              </a:lnSpc>
              <a:buSzPct val="100000"/>
            </a:pPr>
            <a:r>
              <a:rPr lang="en-US" sz="2300" b="1" dirty="0">
                <a:latin typeface="Arial Rounded MT Bold" panose="020F0704030504030204" pitchFamily="34" charset="0"/>
                <a:ea typeface="Arial" pitchFamily="34" charset="-122"/>
                <a:cs typeface="Arial" pitchFamily="34" charset="-120"/>
              </a:rPr>
              <a:t>Others: </a:t>
            </a:r>
            <a:r>
              <a:rPr lang="en-US" sz="2300" dirty="0">
                <a:latin typeface="Arial Rounded MT Bold" panose="020F0704030504030204" pitchFamily="34" charset="0"/>
                <a:ea typeface="Arial" pitchFamily="34" charset="-122"/>
                <a:cs typeface="Arial" pitchFamily="34" charset="-120"/>
              </a:rPr>
              <a:t>GitHub for version control, VS Code for development.</a:t>
            </a:r>
          </a:p>
          <a:p>
            <a:pPr marL="0" indent="0">
              <a:buNone/>
            </a:pPr>
            <a:endParaRPr lang="en-IN" dirty="0">
              <a:latin typeface="Arial Rounded MT Bold" panose="020F0704030504030204" pitchFamily="34" charset="0"/>
            </a:endParaRPr>
          </a:p>
        </p:txBody>
      </p:sp>
      <p:sp>
        <p:nvSpPr>
          <p:cNvPr id="5" name="Slide Number Placeholder 4">
            <a:extLst>
              <a:ext uri="{FF2B5EF4-FFF2-40B4-BE49-F238E27FC236}">
                <a16:creationId xmlns:a16="http://schemas.microsoft.com/office/drawing/2014/main" id="{0A2AAD28-3B89-0CC7-2EEC-C629CE9B82E9}"/>
              </a:ext>
            </a:extLst>
          </p:cNvPr>
          <p:cNvSpPr>
            <a:spLocks noGrp="1"/>
          </p:cNvSpPr>
          <p:nvPr>
            <p:ph type="sldNum" sz="quarter" idx="12"/>
          </p:nvPr>
        </p:nvSpPr>
        <p:spPr/>
        <p:txBody>
          <a:bodyPr/>
          <a:lstStyle/>
          <a:p>
            <a:fld id="{3FCAF691-C30B-4477-A4FB-AFF7F164B000}" type="slidenum">
              <a:rPr lang="en-IN" smtClean="0"/>
              <a:pPr/>
              <a:t>9</a:t>
            </a:fld>
            <a:endParaRPr lang="en-IN"/>
          </a:p>
        </p:txBody>
      </p:sp>
      <p:pic>
        <p:nvPicPr>
          <p:cNvPr id="7" name="Picture 6">
            <a:extLst>
              <a:ext uri="{FF2B5EF4-FFF2-40B4-BE49-F238E27FC236}">
                <a16:creationId xmlns:a16="http://schemas.microsoft.com/office/drawing/2014/main" id="{C3AAF3CE-3C73-04C1-922B-81BEC50BA1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6" name="Rectangle 5">
            <a:extLst>
              <a:ext uri="{FF2B5EF4-FFF2-40B4-BE49-F238E27FC236}">
                <a16:creationId xmlns:a16="http://schemas.microsoft.com/office/drawing/2014/main" id="{B247B3C2-6EBE-F522-D1E1-A7C685236751}"/>
              </a:ext>
            </a:extLst>
          </p:cNvPr>
          <p:cNvSpPr/>
          <p:nvPr/>
        </p:nvSpPr>
        <p:spPr>
          <a:xfrm>
            <a:off x="0" y="4832725"/>
            <a:ext cx="9144000" cy="310775"/>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Tree>
    <p:extLst>
      <p:ext uri="{BB962C8B-B14F-4D97-AF65-F5344CB8AC3E}">
        <p14:creationId xmlns:p14="http://schemas.microsoft.com/office/powerpoint/2010/main" val="202554149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4941B-BA85-D46A-414E-0B3832B509E7}"/>
              </a:ext>
            </a:extLst>
          </p:cNvPr>
          <p:cNvSpPr>
            <a:spLocks noGrp="1"/>
          </p:cNvSpPr>
          <p:nvPr>
            <p:ph type="title"/>
          </p:nvPr>
        </p:nvSpPr>
        <p:spPr/>
        <p:txBody>
          <a:bodyPr>
            <a:normAutofit/>
          </a:bodyPr>
          <a:lstStyle/>
          <a:p>
            <a:pPr algn="ctr"/>
            <a:r>
              <a:rPr lang="en-IN" sz="2700" u="sng" dirty="0">
                <a:latin typeface="Arial Rounded MT Bold" panose="020F0704030504030204" pitchFamily="34" charset="0"/>
              </a:rPr>
              <a:t>Implementation Workflow</a:t>
            </a:r>
          </a:p>
        </p:txBody>
      </p:sp>
      <p:sp>
        <p:nvSpPr>
          <p:cNvPr id="3" name="Content Placeholder 2">
            <a:extLst>
              <a:ext uri="{FF2B5EF4-FFF2-40B4-BE49-F238E27FC236}">
                <a16:creationId xmlns:a16="http://schemas.microsoft.com/office/drawing/2014/main" id="{FB3E52EC-66D4-725D-C9C3-18F2703D07A0}"/>
              </a:ext>
            </a:extLst>
          </p:cNvPr>
          <p:cNvSpPr>
            <a:spLocks noGrp="1"/>
          </p:cNvSpPr>
          <p:nvPr>
            <p:ph idx="1"/>
          </p:nvPr>
        </p:nvSpPr>
        <p:spPr>
          <a:xfrm>
            <a:off x="628650" y="1323278"/>
            <a:ext cx="7886700" cy="3309445"/>
          </a:xfrm>
        </p:spPr>
        <p:txBody>
          <a:bodyPr>
            <a:noAutofit/>
          </a:bodyPr>
          <a:lstStyle/>
          <a:p>
            <a:pPr marL="342900" indent="-342900">
              <a:lnSpc>
                <a:spcPts val="3240"/>
              </a:lnSpc>
              <a:buSzPct val="100000"/>
            </a:pPr>
            <a:r>
              <a:rPr lang="en-US" sz="1800" b="1" dirty="0">
                <a:latin typeface="Arial Rounded MT Bold" panose="020F0704030504030204" pitchFamily="34" charset="0"/>
                <a:ea typeface="Arial" pitchFamily="34" charset="-122"/>
                <a:cs typeface="Arial" pitchFamily="34" charset="-120"/>
              </a:rPr>
              <a:t>Step 1:</a:t>
            </a:r>
            <a:r>
              <a:rPr lang="en-US" sz="1800" dirty="0">
                <a:latin typeface="Arial Rounded MT Bold" panose="020F0704030504030204" pitchFamily="34" charset="0"/>
                <a:ea typeface="Arial" pitchFamily="34" charset="-122"/>
                <a:cs typeface="Arial" pitchFamily="34" charset="-120"/>
              </a:rPr>
              <a:t> File Crawling - Scan and extract text</a:t>
            </a:r>
            <a:endParaRPr lang="en-US" sz="1800" dirty="0">
              <a:latin typeface="Arial Rounded MT Bold" panose="020F0704030504030204" pitchFamily="34" charset="0"/>
            </a:endParaRPr>
          </a:p>
          <a:p>
            <a:pPr marL="342900" indent="-342900">
              <a:lnSpc>
                <a:spcPts val="3240"/>
              </a:lnSpc>
              <a:buSzPct val="100000"/>
            </a:pPr>
            <a:r>
              <a:rPr lang="en-US" sz="1800" b="1" dirty="0">
                <a:latin typeface="Arial Rounded MT Bold" panose="020F0704030504030204" pitchFamily="34" charset="0"/>
                <a:ea typeface="Arial" pitchFamily="34" charset="-122"/>
                <a:cs typeface="Arial" pitchFamily="34" charset="-120"/>
              </a:rPr>
              <a:t>Step 2:</a:t>
            </a:r>
            <a:r>
              <a:rPr lang="en-US" sz="1800" dirty="0">
                <a:latin typeface="Arial Rounded MT Bold" panose="020F0704030504030204" pitchFamily="34" charset="0"/>
                <a:ea typeface="Arial" pitchFamily="34" charset="-122"/>
                <a:cs typeface="Arial" pitchFamily="34" charset="-120"/>
              </a:rPr>
              <a:t> Embedding Generation - Create vector representations</a:t>
            </a:r>
            <a:endParaRPr lang="en-US" sz="1800" dirty="0">
              <a:latin typeface="Arial Rounded MT Bold" panose="020F0704030504030204" pitchFamily="34" charset="0"/>
            </a:endParaRPr>
          </a:p>
          <a:p>
            <a:pPr marL="342900" indent="-342900">
              <a:lnSpc>
                <a:spcPts val="3240"/>
              </a:lnSpc>
              <a:buSzPct val="100000"/>
            </a:pPr>
            <a:r>
              <a:rPr lang="en-US" sz="1800" b="1" dirty="0">
                <a:latin typeface="Arial Rounded MT Bold" panose="020F0704030504030204" pitchFamily="34" charset="0"/>
                <a:ea typeface="Arial" pitchFamily="34" charset="-122"/>
                <a:cs typeface="Arial" pitchFamily="34" charset="-120"/>
              </a:rPr>
              <a:t>Step 3:</a:t>
            </a:r>
            <a:r>
              <a:rPr lang="en-US" sz="1800" dirty="0">
                <a:latin typeface="Arial Rounded MT Bold" panose="020F0704030504030204" pitchFamily="34" charset="0"/>
                <a:ea typeface="Arial" pitchFamily="34" charset="-122"/>
                <a:cs typeface="Arial" pitchFamily="34" charset="-120"/>
              </a:rPr>
              <a:t> Vector Storage - Store embeddings in FAISS/</a:t>
            </a:r>
            <a:r>
              <a:rPr lang="en-US" sz="1800" dirty="0" err="1">
                <a:latin typeface="Arial Rounded MT Bold" panose="020F0704030504030204" pitchFamily="34" charset="0"/>
                <a:ea typeface="Arial" pitchFamily="34" charset="-122"/>
                <a:cs typeface="Arial" pitchFamily="34" charset="-120"/>
              </a:rPr>
              <a:t>ChromaDB</a:t>
            </a:r>
            <a:endParaRPr lang="en-US" sz="1800" dirty="0">
              <a:latin typeface="Arial Rounded MT Bold" panose="020F0704030504030204" pitchFamily="34" charset="0"/>
            </a:endParaRPr>
          </a:p>
          <a:p>
            <a:pPr marL="342900" indent="-342900">
              <a:lnSpc>
                <a:spcPts val="3240"/>
              </a:lnSpc>
              <a:buSzPct val="100000"/>
            </a:pPr>
            <a:r>
              <a:rPr lang="en-US" sz="1800" b="1" dirty="0">
                <a:latin typeface="Arial Rounded MT Bold" panose="020F0704030504030204" pitchFamily="34" charset="0"/>
                <a:ea typeface="Arial" pitchFamily="34" charset="-122"/>
                <a:cs typeface="Arial" pitchFamily="34" charset="-120"/>
              </a:rPr>
              <a:t>Step 4:</a:t>
            </a:r>
            <a:r>
              <a:rPr lang="en-US" sz="1800" dirty="0">
                <a:latin typeface="Arial Rounded MT Bold" panose="020F0704030504030204" pitchFamily="34" charset="0"/>
                <a:ea typeface="Arial" pitchFamily="34" charset="-122"/>
                <a:cs typeface="Arial" pitchFamily="34" charset="-120"/>
              </a:rPr>
              <a:t> Query Processing &amp; Retrieval - Find top matches</a:t>
            </a:r>
            <a:endParaRPr lang="en-US" sz="1800" dirty="0">
              <a:latin typeface="Arial Rounded MT Bold" panose="020F0704030504030204" pitchFamily="34" charset="0"/>
            </a:endParaRPr>
          </a:p>
          <a:p>
            <a:pPr marL="0" indent="0">
              <a:buNone/>
            </a:pPr>
            <a:endParaRPr lang="en-IN" sz="1600" dirty="0">
              <a:latin typeface="Arial Rounded MT Bold" panose="020F0704030504030204" pitchFamily="34" charset="0"/>
            </a:endParaRPr>
          </a:p>
        </p:txBody>
      </p:sp>
      <p:sp>
        <p:nvSpPr>
          <p:cNvPr id="4" name="Footer Placeholder 3">
            <a:extLst>
              <a:ext uri="{FF2B5EF4-FFF2-40B4-BE49-F238E27FC236}">
                <a16:creationId xmlns:a16="http://schemas.microsoft.com/office/drawing/2014/main" id="{65764173-1E56-F2F0-8BD3-FCAAEF73D2B3}"/>
              </a:ext>
            </a:extLst>
          </p:cNvPr>
          <p:cNvSpPr>
            <a:spLocks noGrp="1"/>
          </p:cNvSpPr>
          <p:nvPr>
            <p:ph type="ftr" sz="quarter" idx="11"/>
          </p:nvPr>
        </p:nvSpPr>
        <p:spPr/>
        <p:txBody>
          <a:bodyPr/>
          <a:lstStyle/>
          <a:p>
            <a:r>
              <a:rPr lang="en-US"/>
              <a:t>Faculty Name(optional), Department of ______Engineering, VIIT,Pune-48</a:t>
            </a:r>
            <a:endParaRPr lang="en-IN"/>
          </a:p>
        </p:txBody>
      </p:sp>
      <p:sp>
        <p:nvSpPr>
          <p:cNvPr id="5" name="Slide Number Placeholder 4">
            <a:extLst>
              <a:ext uri="{FF2B5EF4-FFF2-40B4-BE49-F238E27FC236}">
                <a16:creationId xmlns:a16="http://schemas.microsoft.com/office/drawing/2014/main" id="{8BF4FE8B-4B4C-63F3-6A6F-2A4A8B48F5DA}"/>
              </a:ext>
            </a:extLst>
          </p:cNvPr>
          <p:cNvSpPr>
            <a:spLocks noGrp="1"/>
          </p:cNvSpPr>
          <p:nvPr>
            <p:ph type="sldNum" sz="quarter" idx="12"/>
          </p:nvPr>
        </p:nvSpPr>
        <p:spPr/>
        <p:txBody>
          <a:bodyPr/>
          <a:lstStyle/>
          <a:p>
            <a:fld id="{3FCAF691-C30B-4477-A4FB-AFF7F164B000}" type="slidenum">
              <a:rPr lang="en-IN" smtClean="0"/>
              <a:pPr/>
              <a:t>10</a:t>
            </a:fld>
            <a:endParaRPr lang="en-IN"/>
          </a:p>
        </p:txBody>
      </p:sp>
      <p:pic>
        <p:nvPicPr>
          <p:cNvPr id="7" name="Picture 6">
            <a:extLst>
              <a:ext uri="{FF2B5EF4-FFF2-40B4-BE49-F238E27FC236}">
                <a16:creationId xmlns:a16="http://schemas.microsoft.com/office/drawing/2014/main" id="{272AF0C9-2FBB-D57C-215D-0F4DDB76F53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5" y="0"/>
            <a:ext cx="724623" cy="819345"/>
          </a:xfrm>
          <a:prstGeom prst="rect">
            <a:avLst/>
          </a:prstGeom>
        </p:spPr>
      </p:pic>
      <p:sp>
        <p:nvSpPr>
          <p:cNvPr id="8" name="Rectangle 7">
            <a:extLst>
              <a:ext uri="{FF2B5EF4-FFF2-40B4-BE49-F238E27FC236}">
                <a16:creationId xmlns:a16="http://schemas.microsoft.com/office/drawing/2014/main" id="{970B1130-195D-C6EB-FBB5-58864166EA18}"/>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dirty="0">
                <a:solidFill>
                  <a:schemeClr val="tx1"/>
                </a:solidFill>
              </a:rPr>
              <a:t>Roll No:61,62,63,64,65, Department of Engineering, Sciences and Humanities, VIT, Pune-37                        16</a:t>
            </a:r>
          </a:p>
        </p:txBody>
      </p:sp>
    </p:spTree>
    <p:extLst>
      <p:ext uri="{BB962C8B-B14F-4D97-AF65-F5344CB8AC3E}">
        <p14:creationId xmlns:p14="http://schemas.microsoft.com/office/powerpoint/2010/main" val="251409855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711B4-25D5-53BF-387E-E6CE76898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093AF8-F411-19FB-0F82-BE6323893E7C}"/>
              </a:ext>
            </a:extLst>
          </p:cNvPr>
          <p:cNvSpPr>
            <a:spLocks noGrp="1"/>
          </p:cNvSpPr>
          <p:nvPr>
            <p:ph type="title"/>
          </p:nvPr>
        </p:nvSpPr>
        <p:spPr>
          <a:xfrm>
            <a:off x="628650" y="-282498"/>
            <a:ext cx="7886700" cy="1241149"/>
          </a:xfrm>
        </p:spPr>
        <p:txBody>
          <a:bodyPr>
            <a:normAutofit/>
          </a:bodyPr>
          <a:lstStyle/>
          <a:p>
            <a:pPr algn="ctr"/>
            <a:r>
              <a:rPr lang="en-IN" sz="2700" u="sng" dirty="0">
                <a:latin typeface="Arial Rounded MT Bold" panose="020F0704030504030204" pitchFamily="34" charset="0"/>
              </a:rPr>
              <a:t>Literature Review</a:t>
            </a:r>
          </a:p>
        </p:txBody>
      </p:sp>
      <p:sp>
        <p:nvSpPr>
          <p:cNvPr id="4" name="Footer Placeholder 3">
            <a:extLst>
              <a:ext uri="{FF2B5EF4-FFF2-40B4-BE49-F238E27FC236}">
                <a16:creationId xmlns:a16="http://schemas.microsoft.com/office/drawing/2014/main" id="{94232A24-3E6D-6995-82C3-C59D368C73DF}"/>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AA2E08A0-2682-982D-0A45-3DD6AEC688CC}"/>
              </a:ext>
            </a:extLst>
          </p:cNvPr>
          <p:cNvSpPr>
            <a:spLocks noGrp="1"/>
          </p:cNvSpPr>
          <p:nvPr>
            <p:ph type="sldNum" sz="quarter" idx="12"/>
          </p:nvPr>
        </p:nvSpPr>
        <p:spPr/>
        <p:txBody>
          <a:bodyPr/>
          <a:lstStyle/>
          <a:p>
            <a:fld id="{3FCAF691-C30B-4477-A4FB-AFF7F164B000}" type="slidenum">
              <a:rPr lang="en-IN" smtClean="0"/>
              <a:pPr/>
              <a:t>11</a:t>
            </a:fld>
            <a:endParaRPr lang="en-IN"/>
          </a:p>
        </p:txBody>
      </p:sp>
      <p:pic>
        <p:nvPicPr>
          <p:cNvPr id="7" name="Picture 6">
            <a:extLst>
              <a:ext uri="{FF2B5EF4-FFF2-40B4-BE49-F238E27FC236}">
                <a16:creationId xmlns:a16="http://schemas.microsoft.com/office/drawing/2014/main" id="{E15D2C5C-4BC3-13A1-4A68-EF2538575F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79" y="0"/>
            <a:ext cx="724623" cy="819345"/>
          </a:xfrm>
          <a:prstGeom prst="rect">
            <a:avLst/>
          </a:prstGeom>
        </p:spPr>
      </p:pic>
      <p:sp>
        <p:nvSpPr>
          <p:cNvPr id="8" name="Rectangle 7">
            <a:extLst>
              <a:ext uri="{FF2B5EF4-FFF2-40B4-BE49-F238E27FC236}">
                <a16:creationId xmlns:a16="http://schemas.microsoft.com/office/drawing/2014/main" id="{DD23935B-747F-F169-CD16-E373C9CFBDA1}"/>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dirty="0">
                <a:solidFill>
                  <a:schemeClr val="tx1"/>
                </a:solidFill>
              </a:rPr>
              <a:t>Roll No:61,62,63,64,65, Department of Engineering, Sciences and Humanities, VIT, Pune-37                      18</a:t>
            </a:r>
          </a:p>
        </p:txBody>
      </p:sp>
      <p:graphicFrame>
        <p:nvGraphicFramePr>
          <p:cNvPr id="11" name="Content Placeholder 10">
            <a:extLst>
              <a:ext uri="{FF2B5EF4-FFF2-40B4-BE49-F238E27FC236}">
                <a16:creationId xmlns:a16="http://schemas.microsoft.com/office/drawing/2014/main" id="{A55AF1A5-C544-5C53-B0AC-737C4791677E}"/>
              </a:ext>
            </a:extLst>
          </p:cNvPr>
          <p:cNvGraphicFramePr>
            <a:graphicFrameLocks noGrp="1"/>
          </p:cNvGraphicFramePr>
          <p:nvPr>
            <p:ph idx="1"/>
            <p:extLst>
              <p:ext uri="{D42A27DB-BD31-4B8C-83A1-F6EECF244321}">
                <p14:modId xmlns:p14="http://schemas.microsoft.com/office/powerpoint/2010/main" val="886664386"/>
              </p:ext>
            </p:extLst>
          </p:nvPr>
        </p:nvGraphicFramePr>
        <p:xfrm>
          <a:off x="628650" y="621792"/>
          <a:ext cx="7886700" cy="4194915"/>
        </p:xfrm>
        <a:graphic>
          <a:graphicData uri="http://schemas.openxmlformats.org/drawingml/2006/table">
            <a:tbl>
              <a:tblPr firstRow="1" bandRow="1">
                <a:tableStyleId>{5C22544A-7EE6-4342-B048-85BDC9FD1C3A}</a:tableStyleId>
              </a:tblPr>
              <a:tblGrid>
                <a:gridCol w="456735">
                  <a:extLst>
                    <a:ext uri="{9D8B030D-6E8A-4147-A177-3AD203B41FA5}">
                      <a16:colId xmlns:a16="http://schemas.microsoft.com/office/drawing/2014/main" val="785650607"/>
                    </a:ext>
                  </a:extLst>
                </a:gridCol>
                <a:gridCol w="1300976">
                  <a:extLst>
                    <a:ext uri="{9D8B030D-6E8A-4147-A177-3AD203B41FA5}">
                      <a16:colId xmlns:a16="http://schemas.microsoft.com/office/drawing/2014/main" val="3959769982"/>
                    </a:ext>
                  </a:extLst>
                </a:gridCol>
                <a:gridCol w="1167161">
                  <a:extLst>
                    <a:ext uri="{9D8B030D-6E8A-4147-A177-3AD203B41FA5}">
                      <a16:colId xmlns:a16="http://schemas.microsoft.com/office/drawing/2014/main" val="827463805"/>
                    </a:ext>
                  </a:extLst>
                </a:gridCol>
                <a:gridCol w="1152293">
                  <a:extLst>
                    <a:ext uri="{9D8B030D-6E8A-4147-A177-3AD203B41FA5}">
                      <a16:colId xmlns:a16="http://schemas.microsoft.com/office/drawing/2014/main" val="2841026613"/>
                    </a:ext>
                  </a:extLst>
                </a:gridCol>
                <a:gridCol w="1323278">
                  <a:extLst>
                    <a:ext uri="{9D8B030D-6E8A-4147-A177-3AD203B41FA5}">
                      <a16:colId xmlns:a16="http://schemas.microsoft.com/office/drawing/2014/main" val="3967362224"/>
                    </a:ext>
                  </a:extLst>
                </a:gridCol>
                <a:gridCol w="2486257">
                  <a:extLst>
                    <a:ext uri="{9D8B030D-6E8A-4147-A177-3AD203B41FA5}">
                      <a16:colId xmlns:a16="http://schemas.microsoft.com/office/drawing/2014/main" val="564469632"/>
                    </a:ext>
                  </a:extLst>
                </a:gridCol>
              </a:tblGrid>
              <a:tr h="857355">
                <a:tc>
                  <a:txBody>
                    <a:bodyPr/>
                    <a:lstStyle/>
                    <a:p>
                      <a:r>
                        <a:rPr lang="en-IN" dirty="0"/>
                        <a:t>S.</a:t>
                      </a:r>
                    </a:p>
                    <a:p>
                      <a:r>
                        <a:rPr lang="en-IN" dirty="0"/>
                        <a:t>No</a:t>
                      </a:r>
                    </a:p>
                  </a:txBody>
                  <a:tcPr/>
                </a:tc>
                <a:tc>
                  <a:txBody>
                    <a:bodyPr/>
                    <a:lstStyle/>
                    <a:p>
                      <a:r>
                        <a:rPr lang="en-IN" dirty="0"/>
                        <a:t>Title of research paper</a:t>
                      </a:r>
                    </a:p>
                  </a:txBody>
                  <a:tcPr/>
                </a:tc>
                <a:tc>
                  <a:txBody>
                    <a:bodyPr/>
                    <a:lstStyle/>
                    <a:p>
                      <a:r>
                        <a:rPr lang="en-IN" dirty="0"/>
                        <a:t>Author</a:t>
                      </a:r>
                    </a:p>
                  </a:txBody>
                  <a:tcPr/>
                </a:tc>
                <a:tc>
                  <a:txBody>
                    <a:bodyPr/>
                    <a:lstStyle/>
                    <a:p>
                      <a:r>
                        <a:rPr lang="en-IN" dirty="0"/>
                        <a:t>Date of publication</a:t>
                      </a:r>
                    </a:p>
                  </a:txBody>
                  <a:tcPr/>
                </a:tc>
                <a:tc>
                  <a:txBody>
                    <a:bodyPr/>
                    <a:lstStyle/>
                    <a:p>
                      <a:r>
                        <a:rPr lang="en-IN" dirty="0"/>
                        <a:t>Name of journal/</a:t>
                      </a:r>
                    </a:p>
                    <a:p>
                      <a:r>
                        <a:rPr lang="en-IN" dirty="0"/>
                        <a:t>conference</a:t>
                      </a:r>
                    </a:p>
                  </a:txBody>
                  <a:tcPr/>
                </a:tc>
                <a:tc>
                  <a:txBody>
                    <a:bodyPr/>
                    <a:lstStyle/>
                    <a:p>
                      <a:r>
                        <a:rPr lang="en-IN" dirty="0"/>
                        <a:t>Brief summary of work</a:t>
                      </a:r>
                    </a:p>
                  </a:txBody>
                  <a:tcPr/>
                </a:tc>
                <a:extLst>
                  <a:ext uri="{0D108BD9-81ED-4DB2-BD59-A6C34878D82A}">
                    <a16:rowId xmlns:a16="http://schemas.microsoft.com/office/drawing/2014/main" val="1411783476"/>
                  </a:ext>
                </a:extLst>
              </a:tr>
              <a:tr h="998247">
                <a:tc>
                  <a:txBody>
                    <a:bodyPr/>
                    <a:lstStyle/>
                    <a:p>
                      <a:r>
                        <a:rPr lang="en-IN" dirty="0"/>
                        <a:t>1.</a:t>
                      </a:r>
                    </a:p>
                  </a:txBody>
                  <a:tcPr/>
                </a:tc>
                <a:tc>
                  <a:txBody>
                    <a:bodyPr/>
                    <a:lstStyle/>
                    <a:p>
                      <a:r>
                        <a:rPr lang="en-US" sz="900" dirty="0"/>
                        <a:t>READOC: A Unified Benchmark for Realistic Document Structured Extraction</a:t>
                      </a:r>
                      <a:endParaRPr lang="en-IN" sz="900" dirty="0"/>
                    </a:p>
                  </a:txBody>
                  <a:tcPr/>
                </a:tc>
                <a:tc>
                  <a:txBody>
                    <a:bodyPr/>
                    <a:lstStyle/>
                    <a:p>
                      <a:r>
                        <a:rPr lang="en-IN" sz="900" dirty="0" err="1"/>
                        <a:t>Zichao</a:t>
                      </a:r>
                      <a:r>
                        <a:rPr lang="en-IN" sz="900" dirty="0"/>
                        <a:t> Li, </a:t>
                      </a:r>
                      <a:r>
                        <a:rPr lang="en-IN" sz="900" dirty="0" err="1"/>
                        <a:t>Aizier</a:t>
                      </a:r>
                      <a:r>
                        <a:rPr lang="en-IN" sz="900" dirty="0"/>
                        <a:t> </a:t>
                      </a:r>
                      <a:r>
                        <a:rPr lang="en-IN" sz="900" dirty="0" err="1"/>
                        <a:t>Abulaiti</a:t>
                      </a:r>
                      <a:r>
                        <a:rPr lang="en-IN" sz="900" dirty="0"/>
                        <a:t>, </a:t>
                      </a:r>
                      <a:r>
                        <a:rPr lang="en-IN" sz="900" dirty="0" err="1"/>
                        <a:t>Yaojie</a:t>
                      </a:r>
                      <a:r>
                        <a:rPr lang="en-IN" sz="900" dirty="0"/>
                        <a:t> Lu, </a:t>
                      </a:r>
                      <a:r>
                        <a:rPr lang="en-IN" sz="900" dirty="0" err="1"/>
                        <a:t>Xuanang</a:t>
                      </a:r>
                      <a:r>
                        <a:rPr lang="en-IN" sz="900" dirty="0"/>
                        <a:t> Chen, Jia Zheng, Hongyu Lin, </a:t>
                      </a:r>
                      <a:r>
                        <a:rPr lang="en-IN" sz="900" dirty="0" err="1"/>
                        <a:t>Xianpei</a:t>
                      </a:r>
                      <a:r>
                        <a:rPr lang="en-IN" sz="900" dirty="0"/>
                        <a:t> Han, Shanshan Jiang, Bin Dong, and Le Sun.</a:t>
                      </a:r>
                    </a:p>
                  </a:txBody>
                  <a:tcPr/>
                </a:tc>
                <a:tc>
                  <a:txBody>
                    <a:bodyPr/>
                    <a:lstStyle/>
                    <a:p>
                      <a:r>
                        <a:rPr lang="en-US" sz="900" dirty="0"/>
                        <a:t>July 27 - August 1, 2025.</a:t>
                      </a:r>
                      <a:endParaRPr lang="en-IN" sz="9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900" dirty="0"/>
                        <a:t>Findings of the Association for Computational Linguistics: ACL </a:t>
                      </a:r>
                      <a:endParaRPr lang="en-IN" sz="900" dirty="0"/>
                    </a:p>
                  </a:txBody>
                  <a:tcPr/>
                </a:tc>
                <a:tc>
                  <a:txBody>
                    <a:bodyPr/>
                    <a:lstStyle/>
                    <a:p>
                      <a:r>
                        <a:rPr lang="en-US" sz="900" dirty="0"/>
                        <a:t>introduces a unified benchmark for evaluating Document Structured Extraction (DSE) systems</a:t>
                      </a:r>
                      <a:endParaRPr lang="en-IN" sz="900" dirty="0"/>
                    </a:p>
                  </a:txBody>
                  <a:tcPr/>
                </a:tc>
                <a:extLst>
                  <a:ext uri="{0D108BD9-81ED-4DB2-BD59-A6C34878D82A}">
                    <a16:rowId xmlns:a16="http://schemas.microsoft.com/office/drawing/2014/main" val="1315230849"/>
                  </a:ext>
                </a:extLst>
              </a:tr>
              <a:tr h="1936109">
                <a:tc>
                  <a:txBody>
                    <a:bodyPr/>
                    <a:lstStyle/>
                    <a:p>
                      <a:r>
                        <a:rPr lang="en-IN" dirty="0"/>
                        <a:t>2.</a:t>
                      </a:r>
                    </a:p>
                  </a:txBody>
                  <a:tcPr/>
                </a:tc>
                <a:tc>
                  <a:txBody>
                    <a:bodyPr/>
                    <a:lstStyle/>
                    <a:p>
                      <a:r>
                        <a:rPr lang="en-US" sz="900" dirty="0"/>
                        <a:t>A Benchmark and Evaluation for Text Extraction from PDF</a:t>
                      </a:r>
                      <a:endParaRPr lang="en-IN" sz="900" dirty="0"/>
                    </a:p>
                  </a:txBody>
                  <a:tcPr/>
                </a:tc>
                <a:tc>
                  <a:txBody>
                    <a:bodyPr/>
                    <a:lstStyle/>
                    <a:p>
                      <a:r>
                        <a:rPr lang="en-US" sz="900" dirty="0"/>
                        <a:t>Hannah Bast and Claudius Korzen.</a:t>
                      </a:r>
                      <a:endParaRPr lang="en-IN" sz="900" dirty="0"/>
                    </a:p>
                  </a:txBody>
                  <a:tcPr/>
                </a:tc>
                <a:tc>
                  <a:txBody>
                    <a:bodyPr/>
                    <a:lstStyle/>
                    <a:p>
                      <a:r>
                        <a:rPr lang="en-IN" sz="900" dirty="0"/>
                        <a:t>2017</a:t>
                      </a:r>
                    </a:p>
                  </a:txBody>
                  <a:tcPr/>
                </a:tc>
                <a:tc>
                  <a:txBody>
                    <a:bodyPr/>
                    <a:lstStyle/>
                    <a:p>
                      <a:r>
                        <a:rPr lang="en-US" sz="900" dirty="0"/>
                        <a:t>Proceedings of Joint Conference On Digital Libraries (JCDL'17).</a:t>
                      </a:r>
                      <a:endParaRPr lang="en-IN" sz="9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900" dirty="0"/>
                        <a:t>Investigates the challenges of extracting meaningful text from PDF documents. The authors highlight that PDFs are layout-based formats, which makes text extraction difficult because they store character positions and fonts rather than semantic units. The paper introduces a </a:t>
                      </a:r>
                      <a:r>
                        <a:rPr lang="en-US" sz="900" b="1" dirty="0"/>
                        <a:t>benchmark generator</a:t>
                      </a:r>
                      <a:r>
                        <a:rPr lang="en-US" sz="900" dirty="0"/>
                        <a:t>, a </a:t>
                      </a:r>
                      <a:r>
                        <a:rPr lang="en-US" sz="900" b="1" dirty="0"/>
                        <a:t>ready-to-use benchmark</a:t>
                      </a:r>
                      <a:r>
                        <a:rPr lang="en-US" sz="900" dirty="0"/>
                        <a:t>, and an </a:t>
                      </a:r>
                      <a:r>
                        <a:rPr lang="en-US" sz="900" b="1" dirty="0"/>
                        <a:t>extensive evaluation framework</a:t>
                      </a:r>
                      <a:r>
                        <a:rPr lang="en-US" sz="900" dirty="0"/>
                        <a:t> to test existing PDF extraction tools. Key evaluation criteria include handling of word order, diacritics, multi-column layouts, and semantic accuracy. The goal is to provide a standardized way to measure how well tools can extract text, especially from complex documents like scientific articles.</a:t>
                      </a:r>
                    </a:p>
                    <a:p>
                      <a:endParaRPr lang="en-IN" sz="900" dirty="0"/>
                    </a:p>
                  </a:txBody>
                  <a:tcPr/>
                </a:tc>
                <a:extLst>
                  <a:ext uri="{0D108BD9-81ED-4DB2-BD59-A6C34878D82A}">
                    <a16:rowId xmlns:a16="http://schemas.microsoft.com/office/drawing/2014/main" val="279914092"/>
                  </a:ext>
                </a:extLst>
              </a:tr>
            </a:tbl>
          </a:graphicData>
        </a:graphic>
      </p:graphicFrame>
    </p:spTree>
    <p:extLst>
      <p:ext uri="{BB962C8B-B14F-4D97-AF65-F5344CB8AC3E}">
        <p14:creationId xmlns:p14="http://schemas.microsoft.com/office/powerpoint/2010/main" val="399562545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551558-D702-A728-21D2-86FE67A60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0B478-857A-21DD-F9A1-A780DED8BD21}"/>
              </a:ext>
            </a:extLst>
          </p:cNvPr>
          <p:cNvSpPr>
            <a:spLocks noGrp="1"/>
          </p:cNvSpPr>
          <p:nvPr>
            <p:ph type="title"/>
          </p:nvPr>
        </p:nvSpPr>
        <p:spPr>
          <a:xfrm>
            <a:off x="628650" y="-282498"/>
            <a:ext cx="7886700" cy="1241149"/>
          </a:xfrm>
        </p:spPr>
        <p:txBody>
          <a:bodyPr/>
          <a:lstStyle/>
          <a:p>
            <a:endParaRPr lang="en-IN" dirty="0"/>
          </a:p>
        </p:txBody>
      </p:sp>
      <p:sp>
        <p:nvSpPr>
          <p:cNvPr id="4" name="Footer Placeholder 3">
            <a:extLst>
              <a:ext uri="{FF2B5EF4-FFF2-40B4-BE49-F238E27FC236}">
                <a16:creationId xmlns:a16="http://schemas.microsoft.com/office/drawing/2014/main" id="{0E13C4C7-44BF-FF3D-1891-E8BF200FAF00}"/>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254C036E-25D1-A113-6800-5A10C1C7CB43}"/>
              </a:ext>
            </a:extLst>
          </p:cNvPr>
          <p:cNvSpPr>
            <a:spLocks noGrp="1"/>
          </p:cNvSpPr>
          <p:nvPr>
            <p:ph type="sldNum" sz="quarter" idx="12"/>
          </p:nvPr>
        </p:nvSpPr>
        <p:spPr/>
        <p:txBody>
          <a:bodyPr/>
          <a:lstStyle/>
          <a:p>
            <a:fld id="{3FCAF691-C30B-4477-A4FB-AFF7F164B000}" type="slidenum">
              <a:rPr lang="en-IN" smtClean="0"/>
              <a:pPr/>
              <a:t>12</a:t>
            </a:fld>
            <a:endParaRPr lang="en-IN"/>
          </a:p>
        </p:txBody>
      </p:sp>
      <p:pic>
        <p:nvPicPr>
          <p:cNvPr id="7" name="Picture 6">
            <a:extLst>
              <a:ext uri="{FF2B5EF4-FFF2-40B4-BE49-F238E27FC236}">
                <a16:creationId xmlns:a16="http://schemas.microsoft.com/office/drawing/2014/main" id="{9FEA4F04-A2D7-5A27-3B4A-F64CA8CFB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8" name="Rectangle 7">
            <a:extLst>
              <a:ext uri="{FF2B5EF4-FFF2-40B4-BE49-F238E27FC236}">
                <a16:creationId xmlns:a16="http://schemas.microsoft.com/office/drawing/2014/main" id="{4FCE08D6-1950-BDD7-3F3E-AF9FC60EDA5E}"/>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dirty="0">
                <a:solidFill>
                  <a:schemeClr val="tx1"/>
                </a:solidFill>
              </a:rPr>
              <a:t>Roll No:61,62,63,64,65, Department of Engineering, Sciences and Humanities, VIT, Pune-37                      18</a:t>
            </a:r>
          </a:p>
        </p:txBody>
      </p:sp>
      <p:graphicFrame>
        <p:nvGraphicFramePr>
          <p:cNvPr id="11" name="Content Placeholder 10">
            <a:extLst>
              <a:ext uri="{FF2B5EF4-FFF2-40B4-BE49-F238E27FC236}">
                <a16:creationId xmlns:a16="http://schemas.microsoft.com/office/drawing/2014/main" id="{A9BE5391-23C8-7599-9B27-ACA024EFC02F}"/>
              </a:ext>
            </a:extLst>
          </p:cNvPr>
          <p:cNvGraphicFramePr>
            <a:graphicFrameLocks noGrp="1"/>
          </p:cNvGraphicFramePr>
          <p:nvPr>
            <p:ph idx="1"/>
            <p:extLst>
              <p:ext uri="{D42A27DB-BD31-4B8C-83A1-F6EECF244321}">
                <p14:modId xmlns:p14="http://schemas.microsoft.com/office/powerpoint/2010/main" val="241959833"/>
              </p:ext>
            </p:extLst>
          </p:nvPr>
        </p:nvGraphicFramePr>
        <p:xfrm>
          <a:off x="628650" y="934538"/>
          <a:ext cx="7886700" cy="3712648"/>
        </p:xfrm>
        <a:graphic>
          <a:graphicData uri="http://schemas.openxmlformats.org/drawingml/2006/table">
            <a:tbl>
              <a:tblPr firstRow="1" bandRow="1">
                <a:tableStyleId>{5C22544A-7EE6-4342-B048-85BDC9FD1C3A}</a:tableStyleId>
              </a:tblPr>
              <a:tblGrid>
                <a:gridCol w="407670">
                  <a:extLst>
                    <a:ext uri="{9D8B030D-6E8A-4147-A177-3AD203B41FA5}">
                      <a16:colId xmlns:a16="http://schemas.microsoft.com/office/drawing/2014/main" val="785650607"/>
                    </a:ext>
                  </a:extLst>
                </a:gridCol>
                <a:gridCol w="1350041">
                  <a:extLst>
                    <a:ext uri="{9D8B030D-6E8A-4147-A177-3AD203B41FA5}">
                      <a16:colId xmlns:a16="http://schemas.microsoft.com/office/drawing/2014/main" val="3959769982"/>
                    </a:ext>
                  </a:extLst>
                </a:gridCol>
                <a:gridCol w="1167161">
                  <a:extLst>
                    <a:ext uri="{9D8B030D-6E8A-4147-A177-3AD203B41FA5}">
                      <a16:colId xmlns:a16="http://schemas.microsoft.com/office/drawing/2014/main" val="827463805"/>
                    </a:ext>
                  </a:extLst>
                </a:gridCol>
                <a:gridCol w="1152293">
                  <a:extLst>
                    <a:ext uri="{9D8B030D-6E8A-4147-A177-3AD203B41FA5}">
                      <a16:colId xmlns:a16="http://schemas.microsoft.com/office/drawing/2014/main" val="2841026613"/>
                    </a:ext>
                  </a:extLst>
                </a:gridCol>
                <a:gridCol w="1323278">
                  <a:extLst>
                    <a:ext uri="{9D8B030D-6E8A-4147-A177-3AD203B41FA5}">
                      <a16:colId xmlns:a16="http://schemas.microsoft.com/office/drawing/2014/main" val="3967362224"/>
                    </a:ext>
                  </a:extLst>
                </a:gridCol>
                <a:gridCol w="2486257">
                  <a:extLst>
                    <a:ext uri="{9D8B030D-6E8A-4147-A177-3AD203B41FA5}">
                      <a16:colId xmlns:a16="http://schemas.microsoft.com/office/drawing/2014/main" val="564469632"/>
                    </a:ext>
                  </a:extLst>
                </a:gridCol>
              </a:tblGrid>
              <a:tr h="712292">
                <a:tc>
                  <a:txBody>
                    <a:bodyPr/>
                    <a:lstStyle/>
                    <a:p>
                      <a:r>
                        <a:rPr lang="en-IN" dirty="0"/>
                        <a:t>S.</a:t>
                      </a:r>
                    </a:p>
                    <a:p>
                      <a:r>
                        <a:rPr lang="en-IN" dirty="0"/>
                        <a:t>No</a:t>
                      </a:r>
                    </a:p>
                  </a:txBody>
                  <a:tcPr/>
                </a:tc>
                <a:tc>
                  <a:txBody>
                    <a:bodyPr/>
                    <a:lstStyle/>
                    <a:p>
                      <a:r>
                        <a:rPr lang="en-IN" dirty="0"/>
                        <a:t>Title of research paper</a:t>
                      </a:r>
                    </a:p>
                  </a:txBody>
                  <a:tcPr/>
                </a:tc>
                <a:tc>
                  <a:txBody>
                    <a:bodyPr/>
                    <a:lstStyle/>
                    <a:p>
                      <a:r>
                        <a:rPr lang="en-IN" dirty="0"/>
                        <a:t>Author</a:t>
                      </a:r>
                    </a:p>
                  </a:txBody>
                  <a:tcPr/>
                </a:tc>
                <a:tc>
                  <a:txBody>
                    <a:bodyPr/>
                    <a:lstStyle/>
                    <a:p>
                      <a:r>
                        <a:rPr lang="en-IN" dirty="0"/>
                        <a:t>Date of publication</a:t>
                      </a:r>
                    </a:p>
                  </a:txBody>
                  <a:tcPr/>
                </a:tc>
                <a:tc>
                  <a:txBody>
                    <a:bodyPr/>
                    <a:lstStyle/>
                    <a:p>
                      <a:r>
                        <a:rPr lang="en-IN" dirty="0"/>
                        <a:t>Name of journal/</a:t>
                      </a:r>
                    </a:p>
                    <a:p>
                      <a:r>
                        <a:rPr lang="en-IN" dirty="0"/>
                        <a:t>conference</a:t>
                      </a:r>
                    </a:p>
                  </a:txBody>
                  <a:tcPr/>
                </a:tc>
                <a:tc>
                  <a:txBody>
                    <a:bodyPr/>
                    <a:lstStyle/>
                    <a:p>
                      <a:r>
                        <a:rPr lang="en-IN" dirty="0"/>
                        <a:t>Brief summary of work</a:t>
                      </a:r>
                    </a:p>
                  </a:txBody>
                  <a:tcPr/>
                </a:tc>
                <a:extLst>
                  <a:ext uri="{0D108BD9-81ED-4DB2-BD59-A6C34878D82A}">
                    <a16:rowId xmlns:a16="http://schemas.microsoft.com/office/drawing/2014/main" val="1411783476"/>
                  </a:ext>
                </a:extLst>
              </a:tr>
              <a:tr h="965113">
                <a:tc>
                  <a:txBody>
                    <a:bodyPr/>
                    <a:lstStyle/>
                    <a:p>
                      <a:r>
                        <a:rPr lang="en-IN" dirty="0"/>
                        <a:t>3.</a:t>
                      </a:r>
                    </a:p>
                  </a:txBody>
                  <a:tcPr/>
                </a:tc>
                <a:tc>
                  <a:txBody>
                    <a:bodyPr/>
                    <a:lstStyle/>
                    <a:p>
                      <a:r>
                        <a:rPr lang="en-US" sz="900" dirty="0" err="1"/>
                        <a:t>FastAPI:A</a:t>
                      </a:r>
                      <a:r>
                        <a:rPr lang="en-US" sz="900" dirty="0"/>
                        <a:t> Modern Web Framework for Python</a:t>
                      </a:r>
                      <a:endParaRPr lang="en-IN" sz="900" dirty="0"/>
                    </a:p>
                  </a:txBody>
                  <a:tcPr/>
                </a:tc>
                <a:tc>
                  <a:txBody>
                    <a:bodyPr/>
                    <a:lstStyle/>
                    <a:p>
                      <a:r>
                        <a:rPr lang="en-IN" sz="900" dirty="0"/>
                        <a:t>Hassan </a:t>
                      </a:r>
                    </a:p>
                    <a:p>
                      <a:r>
                        <a:rPr lang="en-IN" sz="900" dirty="0" err="1"/>
                        <a:t>Rustamovich</a:t>
                      </a:r>
                      <a:endParaRPr lang="en-IN" sz="900" dirty="0"/>
                    </a:p>
                  </a:txBody>
                  <a:tcPr/>
                </a:tc>
                <a:tc>
                  <a:txBody>
                    <a:bodyPr/>
                    <a:lstStyle/>
                    <a:p>
                      <a:r>
                        <a:rPr lang="en-IN" sz="900" dirty="0"/>
                        <a:t>2024</a:t>
                      </a:r>
                    </a:p>
                  </a:txBody>
                  <a:tcPr/>
                </a:tc>
                <a:tc>
                  <a:txBody>
                    <a:bodyPr/>
                    <a:lstStyle/>
                    <a:p>
                      <a:r>
                        <a:rPr lang="en-US" sz="900" dirty="0"/>
                        <a:t>open-source framework, not a research paper)</a:t>
                      </a:r>
                      <a:endParaRPr lang="en-IN" sz="9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900" dirty="0"/>
                        <a:t>It is designed for building APIs quickly and efficiently, with automatic documentation, type validation, and asynchronous support.</a:t>
                      </a:r>
                      <a:endParaRPr lang="en-IN" sz="900" dirty="0"/>
                    </a:p>
                    <a:p>
                      <a:endParaRPr lang="en-IN" sz="900" dirty="0"/>
                    </a:p>
                  </a:txBody>
                  <a:tcPr/>
                </a:tc>
                <a:extLst>
                  <a:ext uri="{0D108BD9-81ED-4DB2-BD59-A6C34878D82A}">
                    <a16:rowId xmlns:a16="http://schemas.microsoft.com/office/drawing/2014/main" val="1315230849"/>
                  </a:ext>
                </a:extLst>
              </a:tr>
              <a:tr h="2016015">
                <a:tc>
                  <a:txBody>
                    <a:bodyPr/>
                    <a:lstStyle/>
                    <a:p>
                      <a:r>
                        <a:rPr lang="en-IN" dirty="0"/>
                        <a:t>4.</a:t>
                      </a:r>
                    </a:p>
                  </a:txBody>
                  <a:tcPr/>
                </a:tc>
                <a:tc>
                  <a:txBody>
                    <a:bodyPr/>
                    <a:lstStyle/>
                    <a:p>
                      <a:r>
                        <a:rPr lang="en-US" sz="900" dirty="0"/>
                        <a:t>Model Algorithm Research based on Python </a:t>
                      </a:r>
                      <a:r>
                        <a:rPr lang="en-US" sz="900" dirty="0" err="1"/>
                        <a:t>FastAPI</a:t>
                      </a:r>
                      <a:endParaRPr lang="en-IN" sz="900" dirty="0"/>
                    </a:p>
                  </a:txBody>
                  <a:tcPr/>
                </a:tc>
                <a:tc>
                  <a:txBody>
                    <a:bodyPr/>
                    <a:lstStyle/>
                    <a:p>
                      <a:r>
                        <a:rPr lang="en-IN" sz="900" dirty="0"/>
                        <a:t>Chen .J</a:t>
                      </a:r>
                    </a:p>
                  </a:txBody>
                  <a:tcPr/>
                </a:tc>
                <a:tc>
                  <a:txBody>
                    <a:bodyPr/>
                    <a:lstStyle/>
                    <a:p>
                      <a:r>
                        <a:rPr lang="en-IN" sz="900" dirty="0"/>
                        <a:t>2023</a:t>
                      </a:r>
                    </a:p>
                  </a:txBody>
                  <a:tcPr/>
                </a:tc>
                <a:tc>
                  <a:txBody>
                    <a:bodyPr/>
                    <a:lstStyle/>
                    <a:p>
                      <a:r>
                        <a:rPr lang="en-IN" sz="900" b="1" dirty="0"/>
                        <a:t>computer science journals or conference proceedings (e.g., IEEE, ACM, )</a:t>
                      </a:r>
                      <a:endParaRPr lang="en-IN" sz="900" dirty="0"/>
                    </a:p>
                  </a:txBody>
                  <a:tcPr/>
                </a:tc>
                <a:tc>
                  <a:txBody>
                    <a:bodyPr/>
                    <a:lstStyle/>
                    <a:p>
                      <a:r>
                        <a:rPr lang="en-US" sz="900" dirty="0"/>
                        <a:t>This type of research typically explores how </a:t>
                      </a:r>
                      <a:r>
                        <a:rPr lang="en-US" sz="900" b="1" dirty="0" err="1"/>
                        <a:t>FastAPI</a:t>
                      </a:r>
                      <a:r>
                        <a:rPr lang="en-US" sz="900" dirty="0"/>
                        <a:t>, a modern Python web framework, can be used to </a:t>
                      </a:r>
                      <a:r>
                        <a:rPr lang="en-US" sz="900" b="1" dirty="0"/>
                        <a:t>deploy, evaluate, and benchmark machine learning algorithms</a:t>
                      </a:r>
                      <a:r>
                        <a:rPr lang="en-US" sz="900" dirty="0"/>
                        <a:t> in real-world applications. The focus is on bridging the gap between </a:t>
                      </a:r>
                      <a:r>
                        <a:rPr lang="en-US" sz="900" b="1" dirty="0"/>
                        <a:t>algorithm design</a:t>
                      </a:r>
                      <a:r>
                        <a:rPr lang="en-US" sz="900" dirty="0"/>
                        <a:t> and </a:t>
                      </a:r>
                      <a:r>
                        <a:rPr lang="en-US" sz="900" b="1" dirty="0"/>
                        <a:t>production-ready systems</a:t>
                      </a:r>
                      <a:r>
                        <a:rPr lang="en-US" sz="900" dirty="0"/>
                        <a:t>.</a:t>
                      </a:r>
                    </a:p>
                    <a:p>
                      <a:r>
                        <a:rPr lang="en-US" sz="900" dirty="0"/>
                        <a:t>Key Themes</a:t>
                      </a:r>
                    </a:p>
                    <a:p>
                      <a:endParaRPr lang="en-IN" sz="900" dirty="0"/>
                    </a:p>
                  </a:txBody>
                  <a:tcPr/>
                </a:tc>
                <a:extLst>
                  <a:ext uri="{0D108BD9-81ED-4DB2-BD59-A6C34878D82A}">
                    <a16:rowId xmlns:a16="http://schemas.microsoft.com/office/drawing/2014/main" val="279914092"/>
                  </a:ext>
                </a:extLst>
              </a:tr>
            </a:tbl>
          </a:graphicData>
        </a:graphic>
      </p:graphicFrame>
    </p:spTree>
    <p:extLst>
      <p:ext uri="{BB962C8B-B14F-4D97-AF65-F5344CB8AC3E}">
        <p14:creationId xmlns:p14="http://schemas.microsoft.com/office/powerpoint/2010/main" val="2725049494"/>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2F05B-54D8-2DE4-C9DD-C747238E6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32502E-5160-068B-19E5-566CA6D10187}"/>
              </a:ext>
            </a:extLst>
          </p:cNvPr>
          <p:cNvSpPr>
            <a:spLocks noGrp="1"/>
          </p:cNvSpPr>
          <p:nvPr>
            <p:ph type="title"/>
          </p:nvPr>
        </p:nvSpPr>
        <p:spPr>
          <a:xfrm>
            <a:off x="628650" y="-282498"/>
            <a:ext cx="7886700" cy="1241149"/>
          </a:xfrm>
        </p:spPr>
        <p:txBody>
          <a:bodyPr/>
          <a:lstStyle/>
          <a:p>
            <a:endParaRPr lang="en-IN" dirty="0"/>
          </a:p>
        </p:txBody>
      </p:sp>
      <p:sp>
        <p:nvSpPr>
          <p:cNvPr id="4" name="Footer Placeholder 3">
            <a:extLst>
              <a:ext uri="{FF2B5EF4-FFF2-40B4-BE49-F238E27FC236}">
                <a16:creationId xmlns:a16="http://schemas.microsoft.com/office/drawing/2014/main" id="{D0AD4A41-41CD-C792-52EF-8188EE859601}"/>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A4439935-3488-DED4-4E5B-1E82D999CDAE}"/>
              </a:ext>
            </a:extLst>
          </p:cNvPr>
          <p:cNvSpPr>
            <a:spLocks noGrp="1"/>
          </p:cNvSpPr>
          <p:nvPr>
            <p:ph type="sldNum" sz="quarter" idx="12"/>
          </p:nvPr>
        </p:nvSpPr>
        <p:spPr/>
        <p:txBody>
          <a:bodyPr/>
          <a:lstStyle/>
          <a:p>
            <a:fld id="{3FCAF691-C30B-4477-A4FB-AFF7F164B000}" type="slidenum">
              <a:rPr lang="en-IN" smtClean="0"/>
              <a:pPr/>
              <a:t>13</a:t>
            </a:fld>
            <a:endParaRPr lang="en-IN"/>
          </a:p>
        </p:txBody>
      </p:sp>
      <p:pic>
        <p:nvPicPr>
          <p:cNvPr id="7" name="Picture 6">
            <a:extLst>
              <a:ext uri="{FF2B5EF4-FFF2-40B4-BE49-F238E27FC236}">
                <a16:creationId xmlns:a16="http://schemas.microsoft.com/office/drawing/2014/main" id="{29CB5F80-4300-D790-C386-BD697D3364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8" name="Rectangle 7">
            <a:extLst>
              <a:ext uri="{FF2B5EF4-FFF2-40B4-BE49-F238E27FC236}">
                <a16:creationId xmlns:a16="http://schemas.microsoft.com/office/drawing/2014/main" id="{243005BF-F478-6EB6-DB91-3BCD4DFAF63A}"/>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dirty="0">
                <a:solidFill>
                  <a:schemeClr val="tx1"/>
                </a:solidFill>
              </a:rPr>
              <a:t>Roll No:61,62,63,64,65, Department of Engineering, Sciences and Humanities, VIT, Pune-37                      18</a:t>
            </a:r>
          </a:p>
        </p:txBody>
      </p:sp>
      <p:graphicFrame>
        <p:nvGraphicFramePr>
          <p:cNvPr id="11" name="Content Placeholder 10">
            <a:extLst>
              <a:ext uri="{FF2B5EF4-FFF2-40B4-BE49-F238E27FC236}">
                <a16:creationId xmlns:a16="http://schemas.microsoft.com/office/drawing/2014/main" id="{AF382825-3323-AAD1-557B-431016BFD5B5}"/>
              </a:ext>
            </a:extLst>
          </p:cNvPr>
          <p:cNvGraphicFramePr>
            <a:graphicFrameLocks noGrp="1"/>
          </p:cNvGraphicFramePr>
          <p:nvPr>
            <p:ph idx="1"/>
            <p:extLst>
              <p:ext uri="{D42A27DB-BD31-4B8C-83A1-F6EECF244321}">
                <p14:modId xmlns:p14="http://schemas.microsoft.com/office/powerpoint/2010/main" val="926383266"/>
              </p:ext>
            </p:extLst>
          </p:nvPr>
        </p:nvGraphicFramePr>
        <p:xfrm>
          <a:off x="628650" y="934537"/>
          <a:ext cx="7886700" cy="3229194"/>
        </p:xfrm>
        <a:graphic>
          <a:graphicData uri="http://schemas.openxmlformats.org/drawingml/2006/table">
            <a:tbl>
              <a:tblPr firstRow="1" bandRow="1">
                <a:tableStyleId>{5C22544A-7EE6-4342-B048-85BDC9FD1C3A}</a:tableStyleId>
              </a:tblPr>
              <a:tblGrid>
                <a:gridCol w="456735">
                  <a:extLst>
                    <a:ext uri="{9D8B030D-6E8A-4147-A177-3AD203B41FA5}">
                      <a16:colId xmlns:a16="http://schemas.microsoft.com/office/drawing/2014/main" val="785650607"/>
                    </a:ext>
                  </a:extLst>
                </a:gridCol>
                <a:gridCol w="1300976">
                  <a:extLst>
                    <a:ext uri="{9D8B030D-6E8A-4147-A177-3AD203B41FA5}">
                      <a16:colId xmlns:a16="http://schemas.microsoft.com/office/drawing/2014/main" val="3959769982"/>
                    </a:ext>
                  </a:extLst>
                </a:gridCol>
                <a:gridCol w="1167161">
                  <a:extLst>
                    <a:ext uri="{9D8B030D-6E8A-4147-A177-3AD203B41FA5}">
                      <a16:colId xmlns:a16="http://schemas.microsoft.com/office/drawing/2014/main" val="827463805"/>
                    </a:ext>
                  </a:extLst>
                </a:gridCol>
                <a:gridCol w="1152293">
                  <a:extLst>
                    <a:ext uri="{9D8B030D-6E8A-4147-A177-3AD203B41FA5}">
                      <a16:colId xmlns:a16="http://schemas.microsoft.com/office/drawing/2014/main" val="2841026613"/>
                    </a:ext>
                  </a:extLst>
                </a:gridCol>
                <a:gridCol w="1323278">
                  <a:extLst>
                    <a:ext uri="{9D8B030D-6E8A-4147-A177-3AD203B41FA5}">
                      <a16:colId xmlns:a16="http://schemas.microsoft.com/office/drawing/2014/main" val="3967362224"/>
                    </a:ext>
                  </a:extLst>
                </a:gridCol>
                <a:gridCol w="2486257">
                  <a:extLst>
                    <a:ext uri="{9D8B030D-6E8A-4147-A177-3AD203B41FA5}">
                      <a16:colId xmlns:a16="http://schemas.microsoft.com/office/drawing/2014/main" val="564469632"/>
                    </a:ext>
                  </a:extLst>
                </a:gridCol>
              </a:tblGrid>
              <a:tr h="845412">
                <a:tc>
                  <a:txBody>
                    <a:bodyPr/>
                    <a:lstStyle/>
                    <a:p>
                      <a:r>
                        <a:rPr lang="en-IN" dirty="0"/>
                        <a:t>S.</a:t>
                      </a:r>
                    </a:p>
                    <a:p>
                      <a:r>
                        <a:rPr lang="en-IN" dirty="0"/>
                        <a:t>No</a:t>
                      </a:r>
                    </a:p>
                  </a:txBody>
                  <a:tcPr/>
                </a:tc>
                <a:tc>
                  <a:txBody>
                    <a:bodyPr/>
                    <a:lstStyle/>
                    <a:p>
                      <a:r>
                        <a:rPr lang="en-IN" dirty="0"/>
                        <a:t>Title of research paper</a:t>
                      </a:r>
                    </a:p>
                  </a:txBody>
                  <a:tcPr/>
                </a:tc>
                <a:tc>
                  <a:txBody>
                    <a:bodyPr/>
                    <a:lstStyle/>
                    <a:p>
                      <a:r>
                        <a:rPr lang="en-IN" dirty="0"/>
                        <a:t>Author</a:t>
                      </a:r>
                    </a:p>
                  </a:txBody>
                  <a:tcPr/>
                </a:tc>
                <a:tc>
                  <a:txBody>
                    <a:bodyPr/>
                    <a:lstStyle/>
                    <a:p>
                      <a:r>
                        <a:rPr lang="en-IN" dirty="0"/>
                        <a:t>Date of publication</a:t>
                      </a:r>
                    </a:p>
                  </a:txBody>
                  <a:tcPr/>
                </a:tc>
                <a:tc>
                  <a:txBody>
                    <a:bodyPr/>
                    <a:lstStyle/>
                    <a:p>
                      <a:r>
                        <a:rPr lang="en-IN" dirty="0"/>
                        <a:t>Name of journal/</a:t>
                      </a:r>
                    </a:p>
                    <a:p>
                      <a:r>
                        <a:rPr lang="en-IN" dirty="0"/>
                        <a:t>conference</a:t>
                      </a:r>
                    </a:p>
                  </a:txBody>
                  <a:tcPr/>
                </a:tc>
                <a:tc>
                  <a:txBody>
                    <a:bodyPr/>
                    <a:lstStyle/>
                    <a:p>
                      <a:r>
                        <a:rPr lang="en-IN" dirty="0"/>
                        <a:t>Brief summary of work</a:t>
                      </a:r>
                    </a:p>
                  </a:txBody>
                  <a:tcPr/>
                </a:tc>
                <a:extLst>
                  <a:ext uri="{0D108BD9-81ED-4DB2-BD59-A6C34878D82A}">
                    <a16:rowId xmlns:a16="http://schemas.microsoft.com/office/drawing/2014/main" val="1411783476"/>
                  </a:ext>
                </a:extLst>
              </a:tr>
              <a:tr h="984341">
                <a:tc>
                  <a:txBody>
                    <a:bodyPr/>
                    <a:lstStyle/>
                    <a:p>
                      <a:r>
                        <a:rPr lang="en-IN" dirty="0"/>
                        <a:t>5.</a:t>
                      </a:r>
                    </a:p>
                  </a:txBody>
                  <a:tcPr/>
                </a:tc>
                <a:tc>
                  <a:txBody>
                    <a:bodyPr/>
                    <a:lstStyle/>
                    <a:p>
                      <a:r>
                        <a:rPr lang="en-IN" sz="900" dirty="0"/>
                        <a:t>Vector Search Principles</a:t>
                      </a:r>
                    </a:p>
                  </a:txBody>
                  <a:tcPr/>
                </a:tc>
                <a:tc>
                  <a:txBody>
                    <a:bodyPr/>
                    <a:lstStyle/>
                    <a:p>
                      <a:r>
                        <a:rPr lang="en-IN" sz="900" dirty="0"/>
                        <a:t>Gaurav Prabhakar</a:t>
                      </a:r>
                    </a:p>
                  </a:txBody>
                  <a:tcPr/>
                </a:tc>
                <a:tc>
                  <a:txBody>
                    <a:bodyPr/>
                    <a:lstStyle/>
                    <a:p>
                      <a:r>
                        <a:rPr lang="en-IN" sz="900" dirty="0"/>
                        <a:t>2024</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900" b="1" dirty="0"/>
                        <a:t>International Journal of Computer Trends and Technology (IJCTT)</a:t>
                      </a:r>
                      <a:endParaRPr lang="en-US" sz="900" dirty="0"/>
                    </a:p>
                    <a:p>
                      <a:endParaRPr lang="en-IN" sz="9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900" dirty="0"/>
                        <a:t>Vector search works by converting data (text, images, audio, etc.) into </a:t>
                      </a:r>
                      <a:r>
                        <a:rPr lang="en-US" sz="900" b="1" dirty="0"/>
                        <a:t>numerical vectors</a:t>
                      </a:r>
                      <a:r>
                        <a:rPr lang="en-US" sz="900" dirty="0"/>
                        <a:t> that capture semantic meaning. Retrieval is then performed by finding vectors that are closest to the query vector using similarity measures like </a:t>
                      </a:r>
                      <a:r>
                        <a:rPr lang="en-US" sz="900" b="1" dirty="0"/>
                        <a:t>cosine similarity</a:t>
                      </a:r>
                      <a:r>
                        <a:rPr lang="en-US" sz="900" dirty="0"/>
                        <a:t> or </a:t>
                      </a:r>
                      <a:r>
                        <a:rPr lang="en-US" sz="900" b="1" dirty="0"/>
                        <a:t>Euclidean distance</a:t>
                      </a:r>
                      <a:endParaRPr lang="en-US" sz="900" dirty="0"/>
                    </a:p>
                    <a:p>
                      <a:endParaRPr lang="en-IN" sz="900" dirty="0"/>
                    </a:p>
                  </a:txBody>
                  <a:tcPr/>
                </a:tc>
                <a:extLst>
                  <a:ext uri="{0D108BD9-81ED-4DB2-BD59-A6C34878D82A}">
                    <a16:rowId xmlns:a16="http://schemas.microsoft.com/office/drawing/2014/main" val="1315230849"/>
                  </a:ext>
                </a:extLst>
              </a:tr>
              <a:tr h="1332222">
                <a:tc>
                  <a:txBody>
                    <a:bodyPr/>
                    <a:lstStyle/>
                    <a:p>
                      <a:r>
                        <a:rPr lang="en-IN" dirty="0"/>
                        <a:t>6.</a:t>
                      </a:r>
                    </a:p>
                  </a:txBody>
                  <a:tcPr/>
                </a:tc>
                <a:tc>
                  <a:txBody>
                    <a:bodyPr/>
                    <a:lstStyle/>
                    <a:p>
                      <a:r>
                        <a:rPr lang="en-US" sz="900" dirty="0"/>
                        <a:t>Evaluation of BERT and ALBERT Embedding Performance</a:t>
                      </a:r>
                      <a:endParaRPr lang="en-IN" sz="900" dirty="0"/>
                    </a:p>
                  </a:txBody>
                  <a:tcPr/>
                </a:tc>
                <a:tc>
                  <a:txBody>
                    <a:bodyPr/>
                    <a:lstStyle/>
                    <a:p>
                      <a:r>
                        <a:rPr lang="en-IN" sz="900" dirty="0"/>
                        <a:t>Hyunjin Choi</a:t>
                      </a:r>
                    </a:p>
                  </a:txBody>
                  <a:tcPr/>
                </a:tc>
                <a:tc>
                  <a:txBody>
                    <a:bodyPr/>
                    <a:lstStyle/>
                    <a:p>
                      <a:r>
                        <a:rPr lang="en-IN" sz="900" dirty="0"/>
                        <a:t>2021</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900" b="1" dirty="0"/>
                        <a:t>Proceedings of the 25th International Conference on Pattern Recognition (ICPR 2020)</a:t>
                      </a:r>
                    </a:p>
                    <a:p>
                      <a:endParaRPr lang="en-IN" sz="9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900" dirty="0"/>
                        <a:t>This evaluation provided guidance for researchers and practitioners on when to use </a:t>
                      </a:r>
                      <a:r>
                        <a:rPr lang="en-US" sz="900" b="1" dirty="0"/>
                        <a:t>BERT vs. ALBERT</a:t>
                      </a:r>
                      <a:r>
                        <a:rPr lang="en-US" sz="900" dirty="0"/>
                        <a:t> for embedding-based tasks, especially in large-scale or resource-constrained environments. </a:t>
                      </a:r>
                    </a:p>
                    <a:p>
                      <a:endParaRPr lang="en-IN" sz="900" dirty="0"/>
                    </a:p>
                  </a:txBody>
                  <a:tcPr/>
                </a:tc>
                <a:extLst>
                  <a:ext uri="{0D108BD9-81ED-4DB2-BD59-A6C34878D82A}">
                    <a16:rowId xmlns:a16="http://schemas.microsoft.com/office/drawing/2014/main" val="279914092"/>
                  </a:ext>
                </a:extLst>
              </a:tr>
            </a:tbl>
          </a:graphicData>
        </a:graphic>
      </p:graphicFrame>
    </p:spTree>
    <p:extLst>
      <p:ext uri="{BB962C8B-B14F-4D97-AF65-F5344CB8AC3E}">
        <p14:creationId xmlns:p14="http://schemas.microsoft.com/office/powerpoint/2010/main" val="35503190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0353E-EBFF-8FEA-6F23-19F1E63B95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86DFE-3EBE-1785-99C2-6BA2E6188156}"/>
              </a:ext>
            </a:extLst>
          </p:cNvPr>
          <p:cNvSpPr>
            <a:spLocks noGrp="1"/>
          </p:cNvSpPr>
          <p:nvPr>
            <p:ph type="title"/>
          </p:nvPr>
        </p:nvSpPr>
        <p:spPr>
          <a:xfrm>
            <a:off x="628650" y="-282498"/>
            <a:ext cx="7886700" cy="1241149"/>
          </a:xfrm>
        </p:spPr>
        <p:txBody>
          <a:bodyPr/>
          <a:lstStyle/>
          <a:p>
            <a:endParaRPr lang="en-IN" dirty="0"/>
          </a:p>
        </p:txBody>
      </p:sp>
      <p:sp>
        <p:nvSpPr>
          <p:cNvPr id="4" name="Footer Placeholder 3">
            <a:extLst>
              <a:ext uri="{FF2B5EF4-FFF2-40B4-BE49-F238E27FC236}">
                <a16:creationId xmlns:a16="http://schemas.microsoft.com/office/drawing/2014/main" id="{C3B55CE6-8C13-552D-6017-44E327D73931}"/>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594A4D1F-E7DA-611C-2C17-75A0A41FB576}"/>
              </a:ext>
            </a:extLst>
          </p:cNvPr>
          <p:cNvSpPr>
            <a:spLocks noGrp="1"/>
          </p:cNvSpPr>
          <p:nvPr>
            <p:ph type="sldNum" sz="quarter" idx="12"/>
          </p:nvPr>
        </p:nvSpPr>
        <p:spPr/>
        <p:txBody>
          <a:bodyPr/>
          <a:lstStyle/>
          <a:p>
            <a:fld id="{3FCAF691-C30B-4477-A4FB-AFF7F164B000}" type="slidenum">
              <a:rPr lang="en-IN" smtClean="0"/>
              <a:pPr/>
              <a:t>14</a:t>
            </a:fld>
            <a:endParaRPr lang="en-IN"/>
          </a:p>
        </p:txBody>
      </p:sp>
      <p:pic>
        <p:nvPicPr>
          <p:cNvPr id="7" name="Picture 6">
            <a:extLst>
              <a:ext uri="{FF2B5EF4-FFF2-40B4-BE49-F238E27FC236}">
                <a16:creationId xmlns:a16="http://schemas.microsoft.com/office/drawing/2014/main" id="{96BD41C6-7FAA-8A2C-F009-3B9244FFBA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8" name="Rectangle 7">
            <a:extLst>
              <a:ext uri="{FF2B5EF4-FFF2-40B4-BE49-F238E27FC236}">
                <a16:creationId xmlns:a16="http://schemas.microsoft.com/office/drawing/2014/main" id="{00B72870-022D-C343-6FB7-8D870943E2A9}"/>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dirty="0">
                <a:solidFill>
                  <a:schemeClr val="tx1"/>
                </a:solidFill>
              </a:rPr>
              <a:t>Roll No:61,62,63,64,65, Department of Engineering, Sciences and Humanities, VIT, Pune-37                      18</a:t>
            </a:r>
          </a:p>
        </p:txBody>
      </p:sp>
      <p:graphicFrame>
        <p:nvGraphicFramePr>
          <p:cNvPr id="11" name="Content Placeholder 10">
            <a:extLst>
              <a:ext uri="{FF2B5EF4-FFF2-40B4-BE49-F238E27FC236}">
                <a16:creationId xmlns:a16="http://schemas.microsoft.com/office/drawing/2014/main" id="{F0DC2F9F-6F3D-B9F3-C7A3-CA74238AE3B8}"/>
              </a:ext>
            </a:extLst>
          </p:cNvPr>
          <p:cNvGraphicFramePr>
            <a:graphicFrameLocks noGrp="1"/>
          </p:cNvGraphicFramePr>
          <p:nvPr>
            <p:ph idx="1"/>
            <p:extLst>
              <p:ext uri="{D42A27DB-BD31-4B8C-83A1-F6EECF244321}">
                <p14:modId xmlns:p14="http://schemas.microsoft.com/office/powerpoint/2010/main" val="1017995398"/>
              </p:ext>
            </p:extLst>
          </p:nvPr>
        </p:nvGraphicFramePr>
        <p:xfrm>
          <a:off x="628650" y="934538"/>
          <a:ext cx="7886700" cy="3596947"/>
        </p:xfrm>
        <a:graphic>
          <a:graphicData uri="http://schemas.openxmlformats.org/drawingml/2006/table">
            <a:tbl>
              <a:tblPr firstRow="1" bandRow="1">
                <a:tableStyleId>{5C22544A-7EE6-4342-B048-85BDC9FD1C3A}</a:tableStyleId>
              </a:tblPr>
              <a:tblGrid>
                <a:gridCol w="493014">
                  <a:extLst>
                    <a:ext uri="{9D8B030D-6E8A-4147-A177-3AD203B41FA5}">
                      <a16:colId xmlns:a16="http://schemas.microsoft.com/office/drawing/2014/main" val="785650607"/>
                    </a:ext>
                  </a:extLst>
                </a:gridCol>
                <a:gridCol w="1264697">
                  <a:extLst>
                    <a:ext uri="{9D8B030D-6E8A-4147-A177-3AD203B41FA5}">
                      <a16:colId xmlns:a16="http://schemas.microsoft.com/office/drawing/2014/main" val="3959769982"/>
                    </a:ext>
                  </a:extLst>
                </a:gridCol>
                <a:gridCol w="1167161">
                  <a:extLst>
                    <a:ext uri="{9D8B030D-6E8A-4147-A177-3AD203B41FA5}">
                      <a16:colId xmlns:a16="http://schemas.microsoft.com/office/drawing/2014/main" val="827463805"/>
                    </a:ext>
                  </a:extLst>
                </a:gridCol>
                <a:gridCol w="1152293">
                  <a:extLst>
                    <a:ext uri="{9D8B030D-6E8A-4147-A177-3AD203B41FA5}">
                      <a16:colId xmlns:a16="http://schemas.microsoft.com/office/drawing/2014/main" val="2841026613"/>
                    </a:ext>
                  </a:extLst>
                </a:gridCol>
                <a:gridCol w="1323278">
                  <a:extLst>
                    <a:ext uri="{9D8B030D-6E8A-4147-A177-3AD203B41FA5}">
                      <a16:colId xmlns:a16="http://schemas.microsoft.com/office/drawing/2014/main" val="3967362224"/>
                    </a:ext>
                  </a:extLst>
                </a:gridCol>
                <a:gridCol w="2486257">
                  <a:extLst>
                    <a:ext uri="{9D8B030D-6E8A-4147-A177-3AD203B41FA5}">
                      <a16:colId xmlns:a16="http://schemas.microsoft.com/office/drawing/2014/main" val="564469632"/>
                    </a:ext>
                  </a:extLst>
                </a:gridCol>
              </a:tblGrid>
              <a:tr h="775187">
                <a:tc>
                  <a:txBody>
                    <a:bodyPr/>
                    <a:lstStyle/>
                    <a:p>
                      <a:r>
                        <a:rPr lang="en-IN" dirty="0"/>
                        <a:t>S.</a:t>
                      </a:r>
                    </a:p>
                    <a:p>
                      <a:r>
                        <a:rPr lang="en-IN" dirty="0"/>
                        <a:t>No</a:t>
                      </a:r>
                    </a:p>
                  </a:txBody>
                  <a:tcPr/>
                </a:tc>
                <a:tc>
                  <a:txBody>
                    <a:bodyPr/>
                    <a:lstStyle/>
                    <a:p>
                      <a:r>
                        <a:rPr lang="en-IN" dirty="0"/>
                        <a:t>Title of research paper</a:t>
                      </a:r>
                    </a:p>
                  </a:txBody>
                  <a:tcPr/>
                </a:tc>
                <a:tc>
                  <a:txBody>
                    <a:bodyPr/>
                    <a:lstStyle/>
                    <a:p>
                      <a:r>
                        <a:rPr lang="en-IN" dirty="0"/>
                        <a:t>Author</a:t>
                      </a:r>
                    </a:p>
                  </a:txBody>
                  <a:tcPr/>
                </a:tc>
                <a:tc>
                  <a:txBody>
                    <a:bodyPr/>
                    <a:lstStyle/>
                    <a:p>
                      <a:r>
                        <a:rPr lang="en-IN" dirty="0"/>
                        <a:t>Date of publication</a:t>
                      </a:r>
                    </a:p>
                  </a:txBody>
                  <a:tcPr/>
                </a:tc>
                <a:tc>
                  <a:txBody>
                    <a:bodyPr/>
                    <a:lstStyle/>
                    <a:p>
                      <a:r>
                        <a:rPr lang="en-IN" dirty="0"/>
                        <a:t>Name of journal/</a:t>
                      </a:r>
                    </a:p>
                    <a:p>
                      <a:r>
                        <a:rPr lang="en-IN" dirty="0"/>
                        <a:t>conference</a:t>
                      </a:r>
                    </a:p>
                  </a:txBody>
                  <a:tcPr/>
                </a:tc>
                <a:tc>
                  <a:txBody>
                    <a:bodyPr/>
                    <a:lstStyle/>
                    <a:p>
                      <a:r>
                        <a:rPr lang="en-IN" dirty="0"/>
                        <a:t>Brief summary of work</a:t>
                      </a:r>
                    </a:p>
                  </a:txBody>
                  <a:tcPr/>
                </a:tc>
                <a:extLst>
                  <a:ext uri="{0D108BD9-81ED-4DB2-BD59-A6C34878D82A}">
                    <a16:rowId xmlns:a16="http://schemas.microsoft.com/office/drawing/2014/main" val="1411783476"/>
                  </a:ext>
                </a:extLst>
              </a:tr>
              <a:tr h="852536">
                <a:tc>
                  <a:txBody>
                    <a:bodyPr/>
                    <a:lstStyle/>
                    <a:p>
                      <a:r>
                        <a:rPr lang="en-IN" dirty="0"/>
                        <a:t>7.</a:t>
                      </a:r>
                    </a:p>
                  </a:txBody>
                  <a:tcPr/>
                </a:tc>
                <a:tc>
                  <a:txBody>
                    <a:bodyPr/>
                    <a:lstStyle/>
                    <a:p>
                      <a:endParaRPr lang="en-IN" sz="900" b="0" i="0" u="none" strike="noStrike" kern="1200" baseline="0" dirty="0">
                        <a:solidFill>
                          <a:schemeClr val="dk1"/>
                        </a:solidFill>
                        <a:latin typeface="+mn-lt"/>
                        <a:ea typeface="+mn-ea"/>
                        <a:cs typeface="+mn-cs"/>
                      </a:endParaRPr>
                    </a:p>
                    <a:p>
                      <a:r>
                        <a:rPr lang="en-US" sz="900" b="0" i="0" u="none" strike="noStrike" kern="1200" baseline="0" dirty="0">
                          <a:solidFill>
                            <a:schemeClr val="dk1"/>
                          </a:solidFill>
                          <a:latin typeface="+mn-lt"/>
                          <a:ea typeface="+mn-ea"/>
                          <a:cs typeface="+mn-cs"/>
                        </a:rPr>
                        <a:t> From Commands to Prompts: LLM-based Semantic File System for AIOS 	</a:t>
                      </a:r>
                    </a:p>
                    <a:p>
                      <a:endParaRPr lang="en-IN" sz="900" dirty="0"/>
                    </a:p>
                  </a:txBody>
                  <a:tcPr/>
                </a:tc>
                <a:tc>
                  <a:txBody>
                    <a:bodyPr/>
                    <a:lstStyle/>
                    <a:p>
                      <a:endParaRPr lang="en-IN" sz="900" b="0" i="0" u="none" strike="noStrike" kern="1200" baseline="0" dirty="0">
                        <a:solidFill>
                          <a:schemeClr val="dk1"/>
                        </a:solidFill>
                        <a:latin typeface="+mn-lt"/>
                        <a:ea typeface="+mn-ea"/>
                        <a:cs typeface="+mn-cs"/>
                      </a:endParaRPr>
                    </a:p>
                    <a:p>
                      <a:r>
                        <a:rPr lang="en-IN" sz="900" b="0" i="0" u="none" strike="noStrike" kern="1200" baseline="0" dirty="0">
                          <a:solidFill>
                            <a:schemeClr val="dk1"/>
                          </a:solidFill>
                          <a:latin typeface="+mn-lt"/>
                          <a:ea typeface="+mn-ea"/>
                          <a:cs typeface="+mn-cs"/>
                        </a:rPr>
                        <a:t> Zeru Shi, Kai Mei, Mingyu Jin, </a:t>
                      </a:r>
                      <a:r>
                        <a:rPr lang="en-IN" sz="900" b="0" i="0" u="none" strike="noStrike" kern="1200" baseline="0" dirty="0" err="1">
                          <a:solidFill>
                            <a:schemeClr val="dk1"/>
                          </a:solidFill>
                          <a:latin typeface="+mn-lt"/>
                          <a:ea typeface="+mn-ea"/>
                          <a:cs typeface="+mn-cs"/>
                        </a:rPr>
                        <a:t>Yongye</a:t>
                      </a:r>
                      <a:r>
                        <a:rPr lang="en-IN" sz="900" b="0" i="0" u="none" strike="noStrike" kern="1200" baseline="0" dirty="0">
                          <a:solidFill>
                            <a:schemeClr val="dk1"/>
                          </a:solidFill>
                          <a:latin typeface="+mn-lt"/>
                          <a:ea typeface="+mn-ea"/>
                          <a:cs typeface="+mn-cs"/>
                        </a:rPr>
                        <a:t> Su, </a:t>
                      </a:r>
                      <a:r>
                        <a:rPr lang="en-IN" sz="900" b="0" i="0" u="none" strike="noStrike" kern="1200" baseline="0" dirty="0" err="1">
                          <a:solidFill>
                            <a:schemeClr val="dk1"/>
                          </a:solidFill>
                          <a:latin typeface="+mn-lt"/>
                          <a:ea typeface="+mn-ea"/>
                          <a:cs typeface="+mn-cs"/>
                        </a:rPr>
                        <a:t>Chaoji</a:t>
                      </a:r>
                      <a:r>
                        <a:rPr lang="en-IN" sz="900" b="0" i="0" u="none" strike="noStrike" kern="1200" baseline="0" dirty="0">
                          <a:solidFill>
                            <a:schemeClr val="dk1"/>
                          </a:solidFill>
                          <a:latin typeface="+mn-lt"/>
                          <a:ea typeface="+mn-ea"/>
                          <a:cs typeface="+mn-cs"/>
                        </a:rPr>
                        <a:t> Zuo, </a:t>
                      </a:r>
                      <a:r>
                        <a:rPr lang="en-IN" sz="900" b="0" i="0" u="none" strike="noStrike" kern="1200" baseline="0" dirty="0" err="1">
                          <a:solidFill>
                            <a:schemeClr val="dk1"/>
                          </a:solidFill>
                          <a:latin typeface="+mn-lt"/>
                          <a:ea typeface="+mn-ea"/>
                          <a:cs typeface="+mn-cs"/>
                        </a:rPr>
                        <a:t>Wenyue</a:t>
                      </a:r>
                      <a:r>
                        <a:rPr lang="en-IN" sz="900" b="0" i="0" u="none" strike="noStrike" kern="1200" baseline="0" dirty="0">
                          <a:solidFill>
                            <a:schemeClr val="dk1"/>
                          </a:solidFill>
                          <a:latin typeface="+mn-lt"/>
                          <a:ea typeface="+mn-ea"/>
                          <a:cs typeface="+mn-cs"/>
                        </a:rPr>
                        <a:t> Hua, </a:t>
                      </a:r>
                      <a:r>
                        <a:rPr lang="en-IN" sz="900" b="0" i="0" u="none" strike="noStrike" kern="1200" baseline="0" dirty="0" err="1">
                          <a:solidFill>
                            <a:schemeClr val="dk1"/>
                          </a:solidFill>
                          <a:latin typeface="+mn-lt"/>
                          <a:ea typeface="+mn-ea"/>
                          <a:cs typeface="+mn-cs"/>
                        </a:rPr>
                        <a:t>Wujiang</a:t>
                      </a:r>
                      <a:r>
                        <a:rPr lang="en-IN" sz="900" b="0" i="0" u="none" strike="noStrike" kern="1200" baseline="0" dirty="0">
                          <a:solidFill>
                            <a:schemeClr val="dk1"/>
                          </a:solidFill>
                          <a:latin typeface="+mn-lt"/>
                          <a:ea typeface="+mn-ea"/>
                          <a:cs typeface="+mn-cs"/>
                        </a:rPr>
                        <a:t> Xu, Yujie Ren, Zirui Liu, </a:t>
                      </a:r>
                      <a:r>
                        <a:rPr lang="en-IN" sz="900" b="0" i="0" u="none" strike="noStrike" kern="1200" baseline="0" dirty="0" err="1">
                          <a:solidFill>
                            <a:schemeClr val="dk1"/>
                          </a:solidFill>
                          <a:latin typeface="+mn-lt"/>
                          <a:ea typeface="+mn-ea"/>
                          <a:cs typeface="+mn-cs"/>
                        </a:rPr>
                        <a:t>Mengnan</a:t>
                      </a:r>
                      <a:r>
                        <a:rPr lang="en-IN" sz="900" b="0" i="0" u="none" strike="noStrike" kern="1200" baseline="0" dirty="0">
                          <a:solidFill>
                            <a:schemeClr val="dk1"/>
                          </a:solidFill>
                          <a:latin typeface="+mn-lt"/>
                          <a:ea typeface="+mn-ea"/>
                          <a:cs typeface="+mn-cs"/>
                        </a:rPr>
                        <a:t> Du, Dong Deng, </a:t>
                      </a:r>
                      <a:r>
                        <a:rPr lang="en-IN" sz="900" b="0" i="0" u="none" strike="noStrike" kern="1200" baseline="0" dirty="0" err="1">
                          <a:solidFill>
                            <a:schemeClr val="dk1"/>
                          </a:solidFill>
                          <a:latin typeface="+mn-lt"/>
                          <a:ea typeface="+mn-ea"/>
                          <a:cs typeface="+mn-cs"/>
                        </a:rPr>
                        <a:t>Yongfeng</a:t>
                      </a:r>
                      <a:r>
                        <a:rPr lang="en-IN" sz="900" b="0" i="0" u="none" strike="noStrike" kern="1200" baseline="0" dirty="0">
                          <a:solidFill>
                            <a:schemeClr val="dk1"/>
                          </a:solidFill>
                          <a:latin typeface="+mn-lt"/>
                          <a:ea typeface="+mn-ea"/>
                          <a:cs typeface="+mn-cs"/>
                        </a:rPr>
                        <a:t> Zhang 	</a:t>
                      </a:r>
                    </a:p>
                    <a:p>
                      <a:r>
                        <a:rPr lang="en-IN" sz="900" b="0" i="0" u="none" strike="noStrike" kern="1200" baseline="0" dirty="0">
                          <a:solidFill>
                            <a:schemeClr val="dk1"/>
                          </a:solidFill>
                          <a:latin typeface="+mn-lt"/>
                          <a:ea typeface="+mn-ea"/>
                          <a:cs typeface="+mn-cs"/>
                        </a:rPr>
                        <a:t>	</a:t>
                      </a:r>
                      <a:r>
                        <a:rPr lang="en-US" sz="900" b="0" i="0" u="none" strike="noStrike" kern="1200" baseline="0" dirty="0">
                          <a:solidFill>
                            <a:schemeClr val="dk1"/>
                          </a:solidFill>
                          <a:latin typeface="+mn-lt"/>
                          <a:ea typeface="+mn-ea"/>
                          <a:cs typeface="+mn-cs"/>
                        </a:rPr>
                        <a:t>.</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900" b="0" i="0" u="none" strike="noStrike" kern="1200" baseline="0" dirty="0">
                          <a:solidFill>
                            <a:schemeClr val="dk1"/>
                          </a:solidFill>
                          <a:latin typeface="+mn-lt"/>
                          <a:ea typeface="+mn-ea"/>
                          <a:cs typeface="+mn-cs"/>
                        </a:rPr>
                        <a:t>September 23, 2024 	</a:t>
                      </a:r>
                    </a:p>
                    <a:p>
                      <a:endParaRPr lang="en-IN" sz="9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900" b="0" i="0" u="none" strike="noStrike" kern="1200" baseline="0" dirty="0">
                          <a:solidFill>
                            <a:schemeClr val="dk1"/>
                          </a:solidFill>
                          <a:latin typeface="+mn-lt"/>
                          <a:ea typeface="+mn-ea"/>
                          <a:cs typeface="+mn-cs"/>
                        </a:rPr>
                        <a:t>International Conference on Learning Representations (ICLR)  	</a:t>
                      </a:r>
                    </a:p>
                    <a:p>
                      <a:endParaRPr lang="en-IN" sz="9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900" b="0" i="0" u="none" strike="noStrike" kern="1200" baseline="0" dirty="0">
                          <a:solidFill>
                            <a:schemeClr val="dk1"/>
                          </a:solidFill>
                          <a:latin typeface="+mn-lt"/>
                          <a:ea typeface="+mn-ea"/>
                          <a:cs typeface="+mn-cs"/>
                        </a:rPr>
                        <a:t>This paper introduces a new kind of file system called LSFS that lets users manage files using normal language instead of complex commands. It stores not just file names and paths, but also the meaning of the file content using embeddings in a vector database, so it can find and group files by their semantic similarity. 	</a:t>
                      </a:r>
                    </a:p>
                    <a:p>
                      <a:endParaRPr lang="en-IN" sz="900" dirty="0"/>
                    </a:p>
                  </a:txBody>
                  <a:tcPr/>
                </a:tc>
                <a:extLst>
                  <a:ext uri="{0D108BD9-81ED-4DB2-BD59-A6C34878D82A}">
                    <a16:rowId xmlns:a16="http://schemas.microsoft.com/office/drawing/2014/main" val="1315230849"/>
                  </a:ext>
                </a:extLst>
              </a:tr>
              <a:tr h="1221560">
                <a:tc>
                  <a:txBody>
                    <a:bodyPr/>
                    <a:lstStyle/>
                    <a:p>
                      <a:r>
                        <a:rPr lang="en-IN" dirty="0"/>
                        <a:t>8.</a:t>
                      </a:r>
                    </a:p>
                  </a:txBody>
                  <a:tcPr/>
                </a:tc>
                <a:tc>
                  <a:txBody>
                    <a:bodyPr/>
                    <a:lstStyle/>
                    <a:p>
                      <a:endParaRPr lang="en-IN" sz="900" b="0" i="0" u="none" strike="noStrike" kern="1200" baseline="0" dirty="0">
                        <a:solidFill>
                          <a:schemeClr val="dk1"/>
                        </a:solidFill>
                        <a:latin typeface="+mn-lt"/>
                        <a:ea typeface="+mn-ea"/>
                        <a:cs typeface="+mn-cs"/>
                      </a:endParaRPr>
                    </a:p>
                    <a:p>
                      <a:r>
                        <a:rPr lang="en-US" sz="900" dirty="0"/>
                        <a:t>An Enhanced Content-based File Retrieval System</a:t>
                      </a:r>
                      <a:endParaRPr lang="en-US" sz="900" b="0" i="0" u="none" strike="noStrike" kern="1200" baseline="0" dirty="0">
                        <a:solidFill>
                          <a:schemeClr val="dk1"/>
                        </a:solidFill>
                        <a:latin typeface="+mn-lt"/>
                        <a:ea typeface="+mn-ea"/>
                        <a:cs typeface="+mn-cs"/>
                      </a:endParaRPr>
                    </a:p>
                    <a:p>
                      <a:endParaRPr lang="en-IN" sz="900" dirty="0"/>
                    </a:p>
                  </a:txBody>
                  <a:tcPr/>
                </a:tc>
                <a:tc>
                  <a:txBody>
                    <a:bodyPr/>
                    <a:lstStyle/>
                    <a:p>
                      <a:r>
                        <a:rPr lang="en-IN" sz="900" dirty="0" err="1"/>
                        <a:t>L.peng</a:t>
                      </a:r>
                      <a:endParaRPr lang="en-IN" sz="900" dirty="0"/>
                    </a:p>
                  </a:txBody>
                  <a:tcPr/>
                </a:tc>
                <a:tc>
                  <a:txBody>
                    <a:bodyPr/>
                    <a:lstStyle/>
                    <a:p>
                      <a:r>
                        <a:rPr lang="en-IN" sz="900" dirty="0"/>
                        <a:t>2024</a:t>
                      </a:r>
                    </a:p>
                  </a:txBody>
                  <a:tcPr/>
                </a:tc>
                <a:tc>
                  <a:txBody>
                    <a:bodyPr/>
                    <a:lstStyle/>
                    <a:p>
                      <a:r>
                        <a:rPr lang="en-US" sz="900" b="0" i="0" u="none" strike="noStrike" kern="1200" baseline="0" dirty="0">
                          <a:solidFill>
                            <a:schemeClr val="dk1"/>
                          </a:solidFill>
                          <a:latin typeface="+mn-lt"/>
                          <a:ea typeface="+mn-ea"/>
                          <a:cs typeface="+mn-cs"/>
                        </a:rPr>
                        <a:t>IEEE 2nd International Conference on Sensors, Electronics and Computer Engineering (ICSECE) 	</a:t>
                      </a:r>
                      <a:endParaRPr lang="en-IN" sz="9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900" b="0" i="0" u="none" strike="noStrike" kern="1200" baseline="0" dirty="0">
                          <a:solidFill>
                            <a:schemeClr val="dk1"/>
                          </a:solidFill>
                          <a:latin typeface="+mn-lt"/>
                          <a:ea typeface="+mn-ea"/>
                          <a:cs typeface="+mn-cs"/>
                        </a:rPr>
                        <a:t>This paper explains a better way to search for documents by their content, not just by file name or </a:t>
                      </a:r>
                      <a:r>
                        <a:rPr lang="en-US" sz="900" b="0" i="0" u="none" strike="noStrike" kern="1200" baseline="0" dirty="0" err="1">
                          <a:solidFill>
                            <a:schemeClr val="dk1"/>
                          </a:solidFill>
                          <a:latin typeface="+mn-lt"/>
                          <a:ea typeface="+mn-ea"/>
                          <a:cs typeface="+mn-cs"/>
                        </a:rPr>
                        <a:t>folder.It</a:t>
                      </a:r>
                      <a:r>
                        <a:rPr lang="en-US" sz="900" b="0" i="0" u="none" strike="noStrike" kern="1200" baseline="0" dirty="0">
                          <a:solidFill>
                            <a:schemeClr val="dk1"/>
                          </a:solidFill>
                          <a:latin typeface="+mn-lt"/>
                          <a:ea typeface="+mn-ea"/>
                          <a:cs typeface="+mn-cs"/>
                        </a:rPr>
                        <a:t> reads and indexes the text inside each file, then uses improved ranking methods to decide which files are most relevant to what the user type 	</a:t>
                      </a:r>
                    </a:p>
                    <a:p>
                      <a:endParaRPr lang="en-IN" sz="900" dirty="0"/>
                    </a:p>
                  </a:txBody>
                  <a:tcPr/>
                </a:tc>
                <a:extLst>
                  <a:ext uri="{0D108BD9-81ED-4DB2-BD59-A6C34878D82A}">
                    <a16:rowId xmlns:a16="http://schemas.microsoft.com/office/drawing/2014/main" val="279914092"/>
                  </a:ext>
                </a:extLst>
              </a:tr>
            </a:tbl>
          </a:graphicData>
        </a:graphic>
      </p:graphicFrame>
    </p:spTree>
    <p:extLst>
      <p:ext uri="{BB962C8B-B14F-4D97-AF65-F5344CB8AC3E}">
        <p14:creationId xmlns:p14="http://schemas.microsoft.com/office/powerpoint/2010/main" val="201281868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BC621-A140-0321-A85E-D0C1C43337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975F25-5FAF-1107-4A80-45ED10F696E5}"/>
              </a:ext>
            </a:extLst>
          </p:cNvPr>
          <p:cNvSpPr>
            <a:spLocks noGrp="1"/>
          </p:cNvSpPr>
          <p:nvPr>
            <p:ph type="title"/>
          </p:nvPr>
        </p:nvSpPr>
        <p:spPr>
          <a:xfrm>
            <a:off x="628650" y="-282498"/>
            <a:ext cx="7886700" cy="1241149"/>
          </a:xfrm>
        </p:spPr>
        <p:txBody>
          <a:bodyPr/>
          <a:lstStyle/>
          <a:p>
            <a:endParaRPr lang="en-IN" dirty="0"/>
          </a:p>
        </p:txBody>
      </p:sp>
      <p:sp>
        <p:nvSpPr>
          <p:cNvPr id="5" name="Slide Number Placeholder 4">
            <a:extLst>
              <a:ext uri="{FF2B5EF4-FFF2-40B4-BE49-F238E27FC236}">
                <a16:creationId xmlns:a16="http://schemas.microsoft.com/office/drawing/2014/main" id="{48F5BD9A-E74C-1E99-A671-AD3E169352F6}"/>
              </a:ext>
            </a:extLst>
          </p:cNvPr>
          <p:cNvSpPr>
            <a:spLocks noGrp="1"/>
          </p:cNvSpPr>
          <p:nvPr>
            <p:ph type="sldNum" sz="quarter" idx="12"/>
          </p:nvPr>
        </p:nvSpPr>
        <p:spPr/>
        <p:txBody>
          <a:bodyPr/>
          <a:lstStyle/>
          <a:p>
            <a:fld id="{3FCAF691-C30B-4477-A4FB-AFF7F164B000}" type="slidenum">
              <a:rPr lang="en-IN" smtClean="0"/>
              <a:pPr/>
              <a:t>15</a:t>
            </a:fld>
            <a:endParaRPr lang="en-IN"/>
          </a:p>
        </p:txBody>
      </p:sp>
      <p:pic>
        <p:nvPicPr>
          <p:cNvPr id="7" name="Picture 6">
            <a:extLst>
              <a:ext uri="{FF2B5EF4-FFF2-40B4-BE49-F238E27FC236}">
                <a16:creationId xmlns:a16="http://schemas.microsoft.com/office/drawing/2014/main" id="{D665B3D6-0CF0-2F26-FB5D-AE5AFE583A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graphicFrame>
        <p:nvGraphicFramePr>
          <p:cNvPr id="11" name="Content Placeholder 10">
            <a:extLst>
              <a:ext uri="{FF2B5EF4-FFF2-40B4-BE49-F238E27FC236}">
                <a16:creationId xmlns:a16="http://schemas.microsoft.com/office/drawing/2014/main" id="{FF0A7E1A-99E1-A03C-328C-8CD1BBA1941D}"/>
              </a:ext>
            </a:extLst>
          </p:cNvPr>
          <p:cNvGraphicFramePr>
            <a:graphicFrameLocks noGrp="1"/>
          </p:cNvGraphicFramePr>
          <p:nvPr>
            <p:ph idx="1"/>
            <p:extLst>
              <p:ext uri="{D42A27DB-BD31-4B8C-83A1-F6EECF244321}">
                <p14:modId xmlns:p14="http://schemas.microsoft.com/office/powerpoint/2010/main" val="3665422923"/>
              </p:ext>
            </p:extLst>
          </p:nvPr>
        </p:nvGraphicFramePr>
        <p:xfrm>
          <a:off x="628650" y="934537"/>
          <a:ext cx="7886700" cy="3800105"/>
        </p:xfrm>
        <a:graphic>
          <a:graphicData uri="http://schemas.openxmlformats.org/drawingml/2006/table">
            <a:tbl>
              <a:tblPr firstRow="1" bandRow="1">
                <a:tableStyleId>{5C22544A-7EE6-4342-B048-85BDC9FD1C3A}</a:tableStyleId>
              </a:tblPr>
              <a:tblGrid>
                <a:gridCol w="468630">
                  <a:extLst>
                    <a:ext uri="{9D8B030D-6E8A-4147-A177-3AD203B41FA5}">
                      <a16:colId xmlns:a16="http://schemas.microsoft.com/office/drawing/2014/main" val="785650607"/>
                    </a:ext>
                  </a:extLst>
                </a:gridCol>
                <a:gridCol w="1289081">
                  <a:extLst>
                    <a:ext uri="{9D8B030D-6E8A-4147-A177-3AD203B41FA5}">
                      <a16:colId xmlns:a16="http://schemas.microsoft.com/office/drawing/2014/main" val="3959769982"/>
                    </a:ext>
                  </a:extLst>
                </a:gridCol>
                <a:gridCol w="1167161">
                  <a:extLst>
                    <a:ext uri="{9D8B030D-6E8A-4147-A177-3AD203B41FA5}">
                      <a16:colId xmlns:a16="http://schemas.microsoft.com/office/drawing/2014/main" val="827463805"/>
                    </a:ext>
                  </a:extLst>
                </a:gridCol>
                <a:gridCol w="1152293">
                  <a:extLst>
                    <a:ext uri="{9D8B030D-6E8A-4147-A177-3AD203B41FA5}">
                      <a16:colId xmlns:a16="http://schemas.microsoft.com/office/drawing/2014/main" val="2841026613"/>
                    </a:ext>
                  </a:extLst>
                </a:gridCol>
                <a:gridCol w="1323278">
                  <a:extLst>
                    <a:ext uri="{9D8B030D-6E8A-4147-A177-3AD203B41FA5}">
                      <a16:colId xmlns:a16="http://schemas.microsoft.com/office/drawing/2014/main" val="3967362224"/>
                    </a:ext>
                  </a:extLst>
                </a:gridCol>
                <a:gridCol w="2486257">
                  <a:extLst>
                    <a:ext uri="{9D8B030D-6E8A-4147-A177-3AD203B41FA5}">
                      <a16:colId xmlns:a16="http://schemas.microsoft.com/office/drawing/2014/main" val="564469632"/>
                    </a:ext>
                  </a:extLst>
                </a:gridCol>
              </a:tblGrid>
              <a:tr h="1016183">
                <a:tc>
                  <a:txBody>
                    <a:bodyPr/>
                    <a:lstStyle/>
                    <a:p>
                      <a:r>
                        <a:rPr lang="en-IN" dirty="0"/>
                        <a:t>S.</a:t>
                      </a:r>
                    </a:p>
                    <a:p>
                      <a:r>
                        <a:rPr lang="en-IN" dirty="0"/>
                        <a:t>No</a:t>
                      </a:r>
                    </a:p>
                  </a:txBody>
                  <a:tcPr/>
                </a:tc>
                <a:tc>
                  <a:txBody>
                    <a:bodyPr/>
                    <a:lstStyle/>
                    <a:p>
                      <a:r>
                        <a:rPr lang="en-IN" dirty="0"/>
                        <a:t>Title of research paper</a:t>
                      </a:r>
                    </a:p>
                  </a:txBody>
                  <a:tcPr/>
                </a:tc>
                <a:tc>
                  <a:txBody>
                    <a:bodyPr/>
                    <a:lstStyle/>
                    <a:p>
                      <a:r>
                        <a:rPr lang="en-IN" dirty="0"/>
                        <a:t>Author</a:t>
                      </a:r>
                    </a:p>
                  </a:txBody>
                  <a:tcPr/>
                </a:tc>
                <a:tc>
                  <a:txBody>
                    <a:bodyPr/>
                    <a:lstStyle/>
                    <a:p>
                      <a:r>
                        <a:rPr lang="en-IN" dirty="0"/>
                        <a:t>Date of publication</a:t>
                      </a:r>
                    </a:p>
                  </a:txBody>
                  <a:tcPr/>
                </a:tc>
                <a:tc>
                  <a:txBody>
                    <a:bodyPr/>
                    <a:lstStyle/>
                    <a:p>
                      <a:r>
                        <a:rPr lang="en-IN" dirty="0"/>
                        <a:t>Name of journal/</a:t>
                      </a:r>
                    </a:p>
                    <a:p>
                      <a:r>
                        <a:rPr lang="en-IN" dirty="0"/>
                        <a:t>conference</a:t>
                      </a:r>
                    </a:p>
                  </a:txBody>
                  <a:tcPr/>
                </a:tc>
                <a:tc>
                  <a:txBody>
                    <a:bodyPr/>
                    <a:lstStyle/>
                    <a:p>
                      <a:r>
                        <a:rPr lang="en-IN" dirty="0"/>
                        <a:t>Brief summary of work</a:t>
                      </a:r>
                    </a:p>
                  </a:txBody>
                  <a:tcPr/>
                </a:tc>
                <a:extLst>
                  <a:ext uri="{0D108BD9-81ED-4DB2-BD59-A6C34878D82A}">
                    <a16:rowId xmlns:a16="http://schemas.microsoft.com/office/drawing/2014/main" val="1411783476"/>
                  </a:ext>
                </a:extLst>
              </a:tr>
              <a:tr h="1178649">
                <a:tc>
                  <a:txBody>
                    <a:bodyPr/>
                    <a:lstStyle/>
                    <a:p>
                      <a:r>
                        <a:rPr lang="en-IN" dirty="0"/>
                        <a:t>9.</a:t>
                      </a:r>
                    </a:p>
                  </a:txBody>
                  <a:tcPr/>
                </a:tc>
                <a:tc>
                  <a:txBody>
                    <a:bodyPr/>
                    <a:lstStyle/>
                    <a:p>
                      <a:r>
                        <a:rPr lang="en-US" sz="900" dirty="0"/>
                        <a:t>Embedding-Based Vector Search for Large Scale Text Retrieval</a:t>
                      </a:r>
                      <a:endParaRPr lang="en-IN" sz="900" dirty="0"/>
                    </a:p>
                  </a:txBody>
                  <a:tcPr/>
                </a:tc>
                <a:tc>
                  <a:txBody>
                    <a:bodyPr/>
                    <a:lstStyle/>
                    <a:p>
                      <a:r>
                        <a:rPr lang="en-US" sz="900" dirty="0"/>
                        <a:t>Dr. Vinod Kumar P; Kampana R; Neha Merin </a:t>
                      </a:r>
                      <a:r>
                        <a:rPr lang="en-US" sz="900" dirty="0" err="1"/>
                        <a:t>DSouza</a:t>
                      </a:r>
                      <a:r>
                        <a:rPr lang="en-US" sz="900" dirty="0"/>
                        <a:t>; Nishanth M. Jadav; Sharath P </a:t>
                      </a:r>
                      <a:endParaRPr lang="en-IN" sz="900" dirty="0"/>
                    </a:p>
                  </a:txBody>
                  <a:tcPr/>
                </a:tc>
                <a:tc>
                  <a:txBody>
                    <a:bodyPr/>
                    <a:lstStyle/>
                    <a:p>
                      <a:r>
                        <a:rPr lang="en-IN" sz="900" dirty="0"/>
                        <a:t> August, 2025</a:t>
                      </a:r>
                    </a:p>
                  </a:txBody>
                  <a:tcPr/>
                </a:tc>
                <a:tc>
                  <a:txBody>
                    <a:bodyPr/>
                    <a:lstStyle/>
                    <a:p>
                      <a:r>
                        <a:rPr lang="en-US" sz="900" dirty="0"/>
                        <a:t>International Journal for Research Trends and Innovation (IJRTI) </a:t>
                      </a:r>
                      <a:endParaRPr lang="en-IN" sz="900"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900" dirty="0"/>
                        <a:t>Explores how </a:t>
                      </a:r>
                      <a:r>
                        <a:rPr lang="en-US" sz="900" b="1" dirty="0"/>
                        <a:t>semantic embeddings</a:t>
                      </a:r>
                      <a:r>
                        <a:rPr lang="en-US" sz="900" dirty="0"/>
                        <a:t> (from models like BERT, </a:t>
                      </a:r>
                      <a:r>
                        <a:rPr lang="en-US" sz="900" dirty="0" err="1"/>
                        <a:t>RoBERTa</a:t>
                      </a:r>
                      <a:r>
                        <a:rPr lang="en-US" sz="900" dirty="0"/>
                        <a:t>, or other LLMs) can be used to improve large-scale text retrieval. Instead of relying on keyword matching, documents are represented as </a:t>
                      </a:r>
                      <a:r>
                        <a:rPr lang="en-US" sz="900" b="1" dirty="0"/>
                        <a:t>high-dimensional vectors</a:t>
                      </a:r>
                      <a:r>
                        <a:rPr lang="en-US" sz="900" dirty="0"/>
                        <a:t>, and retrieval is performed by measuring </a:t>
                      </a:r>
                      <a:r>
                        <a:rPr lang="en-US" sz="900" b="1" dirty="0"/>
                        <a:t>semantic similarity</a:t>
                      </a:r>
                      <a:endParaRPr lang="en-US" sz="900" dirty="0"/>
                    </a:p>
                    <a:p>
                      <a:endParaRPr lang="en-IN" sz="900" dirty="0"/>
                    </a:p>
                  </a:txBody>
                  <a:tcPr/>
                </a:tc>
                <a:extLst>
                  <a:ext uri="{0D108BD9-81ED-4DB2-BD59-A6C34878D82A}">
                    <a16:rowId xmlns:a16="http://schemas.microsoft.com/office/drawing/2014/main" val="1315230849"/>
                  </a:ext>
                </a:extLst>
              </a:tr>
              <a:tr h="1595202">
                <a:tc>
                  <a:txBody>
                    <a:bodyPr/>
                    <a:lstStyle/>
                    <a:p>
                      <a:r>
                        <a:rPr lang="en-IN" dirty="0"/>
                        <a:t>10.</a:t>
                      </a:r>
                    </a:p>
                  </a:txBody>
                  <a:tcPr/>
                </a:tc>
                <a:tc>
                  <a:txBody>
                    <a:bodyPr/>
                    <a:lstStyle/>
                    <a:p>
                      <a:r>
                        <a:rPr lang="en-US" sz="900" dirty="0"/>
                        <a:t>Intelligent Semantic Search for Academic Journals Using AI and NLP Techniques</a:t>
                      </a:r>
                      <a:endParaRPr lang="en-IN" sz="900" dirty="0"/>
                    </a:p>
                  </a:txBody>
                  <a:tcPr/>
                </a:tc>
                <a:tc>
                  <a:txBody>
                    <a:bodyPr/>
                    <a:lstStyle/>
                    <a:p>
                      <a:r>
                        <a:rPr lang="en-IN" sz="900" dirty="0"/>
                        <a:t>Shireen Fathi Malo; Adel Al-</a:t>
                      </a:r>
                      <a:r>
                        <a:rPr lang="en-IN" sz="900" dirty="0" err="1"/>
                        <a:t>zebari</a:t>
                      </a:r>
                      <a:endParaRPr lang="en-IN" sz="900" dirty="0"/>
                    </a:p>
                  </a:txBody>
                  <a:tcPr/>
                </a:tc>
                <a:tc>
                  <a:txBody>
                    <a:bodyPr/>
                    <a:lstStyle/>
                    <a:p>
                      <a:r>
                        <a:rPr lang="en-IN" sz="900" dirty="0"/>
                        <a:t> May 1, 2025</a:t>
                      </a:r>
                    </a:p>
                  </a:txBody>
                  <a:tcPr/>
                </a:tc>
                <a:tc>
                  <a:txBody>
                    <a:bodyPr/>
                    <a:lstStyle/>
                    <a:p>
                      <a:r>
                        <a:rPr lang="en-US" sz="900" dirty="0"/>
                        <a:t>Journal of Information Systems Engineering and Management (JISEM)</a:t>
                      </a:r>
                      <a:endParaRPr lang="en-IN" sz="900" dirty="0"/>
                    </a:p>
                  </a:txBody>
                  <a:tcPr/>
                </a:tc>
                <a:tc>
                  <a:txBody>
                    <a:bodyPr/>
                    <a:lstStyle/>
                    <a:p>
                      <a:r>
                        <a:rPr lang="en-US" sz="900" dirty="0"/>
                        <a:t>Introduces an </a:t>
                      </a:r>
                      <a:r>
                        <a:rPr lang="en-US" sz="900" b="1" dirty="0"/>
                        <a:t>intelligent semantic search engine</a:t>
                      </a:r>
                      <a:r>
                        <a:rPr lang="en-US" sz="900" dirty="0"/>
                        <a:t> tailored for academic journals. It integrates </a:t>
                      </a:r>
                      <a:r>
                        <a:rPr lang="en-US" sz="900" b="1" dirty="0"/>
                        <a:t>Artificial Intelligence (AI)</a:t>
                      </a:r>
                      <a:r>
                        <a:rPr lang="en-US" sz="900" dirty="0"/>
                        <a:t> and </a:t>
                      </a:r>
                      <a:r>
                        <a:rPr lang="en-US" sz="900" b="1" dirty="0"/>
                        <a:t>Natural Language Processing (NLP)</a:t>
                      </a:r>
                      <a:r>
                        <a:rPr lang="en-US" sz="900" dirty="0"/>
                        <a:t> techniques to improve retrieval accuracy. </a:t>
                      </a:r>
                      <a:endParaRPr lang="en-IN" sz="900" dirty="0"/>
                    </a:p>
                  </a:txBody>
                  <a:tcPr/>
                </a:tc>
                <a:extLst>
                  <a:ext uri="{0D108BD9-81ED-4DB2-BD59-A6C34878D82A}">
                    <a16:rowId xmlns:a16="http://schemas.microsoft.com/office/drawing/2014/main" val="279914092"/>
                  </a:ext>
                </a:extLst>
              </a:tr>
            </a:tbl>
          </a:graphicData>
        </a:graphic>
      </p:graphicFrame>
      <p:sp>
        <p:nvSpPr>
          <p:cNvPr id="3" name="Rectangle 2">
            <a:extLst>
              <a:ext uri="{FF2B5EF4-FFF2-40B4-BE49-F238E27FC236}">
                <a16:creationId xmlns:a16="http://schemas.microsoft.com/office/drawing/2014/main" id="{8688AE40-F6FA-259D-533E-68D44C351E89}"/>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Tree>
    <p:extLst>
      <p:ext uri="{BB962C8B-B14F-4D97-AF65-F5344CB8AC3E}">
        <p14:creationId xmlns:p14="http://schemas.microsoft.com/office/powerpoint/2010/main" val="404323763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B2D040-39B9-179D-FB76-15F91BF4AEC9}"/>
              </a:ext>
            </a:extLst>
          </p:cNvPr>
          <p:cNvSpPr>
            <a:spLocks noGrp="1"/>
          </p:cNvSpPr>
          <p:nvPr>
            <p:ph type="title"/>
          </p:nvPr>
        </p:nvSpPr>
        <p:spPr>
          <a:xfrm>
            <a:off x="628650" y="-215590"/>
            <a:ext cx="7886700" cy="1483606"/>
          </a:xfrm>
        </p:spPr>
        <p:txBody>
          <a:bodyPr>
            <a:normAutofit/>
          </a:bodyPr>
          <a:lstStyle/>
          <a:p>
            <a:pPr algn="ctr"/>
            <a:r>
              <a:rPr lang="en-IN" sz="2700" u="sng" dirty="0">
                <a:latin typeface="Arial Rounded MT Bold" panose="020F0704030504030204" pitchFamily="34" charset="0"/>
              </a:rPr>
              <a:t>Neuro Drive vs Existing Systems</a:t>
            </a:r>
          </a:p>
        </p:txBody>
      </p:sp>
      <p:sp>
        <p:nvSpPr>
          <p:cNvPr id="3" name="Content Placeholder 2">
            <a:extLst>
              <a:ext uri="{FF2B5EF4-FFF2-40B4-BE49-F238E27FC236}">
                <a16:creationId xmlns:a16="http://schemas.microsoft.com/office/drawing/2014/main" id="{C7AA074F-A06F-564E-522B-5D10CD62D1A6}"/>
              </a:ext>
            </a:extLst>
          </p:cNvPr>
          <p:cNvSpPr>
            <a:spLocks noGrp="1"/>
          </p:cNvSpPr>
          <p:nvPr>
            <p:ph idx="1"/>
          </p:nvPr>
        </p:nvSpPr>
        <p:spPr>
          <a:xfrm>
            <a:off x="628650" y="944138"/>
            <a:ext cx="7886700" cy="3688586"/>
          </a:xfrm>
        </p:spPr>
        <p:txBody>
          <a:bodyPr>
            <a:normAutofit fontScale="47500" lnSpcReduction="20000"/>
          </a:bodyPr>
          <a:lstStyle/>
          <a:p>
            <a:pPr marL="0" indent="0">
              <a:buNone/>
            </a:pPr>
            <a:r>
              <a:rPr lang="en-IN" u="sng" dirty="0">
                <a:latin typeface="Arial Rounded MT Bold" panose="020F0704030504030204" pitchFamily="34" charset="0"/>
              </a:rPr>
              <a:t>Traditional Search</a:t>
            </a:r>
          </a:p>
          <a:p>
            <a:pPr marL="285750" indent="-285750"/>
            <a:r>
              <a:rPr lang="en-US" dirty="0">
                <a:latin typeface="Arial Rounded MT Bold" panose="020F0704030504030204" pitchFamily="34" charset="0"/>
              </a:rPr>
              <a:t>Search only by file name or exact keywords</a:t>
            </a:r>
          </a:p>
          <a:p>
            <a:pPr marL="285750" indent="-285750"/>
            <a:r>
              <a:rPr lang="en-US" dirty="0">
                <a:latin typeface="Arial Rounded MT Bold" panose="020F0704030504030204" pitchFamily="34" charset="0"/>
              </a:rPr>
              <a:t>No understanding of file content</a:t>
            </a:r>
          </a:p>
          <a:p>
            <a:pPr marL="285750" indent="-285750"/>
            <a:r>
              <a:rPr lang="en-US" dirty="0">
                <a:latin typeface="Arial Rounded MT Bold" panose="020F0704030504030204" pitchFamily="34" charset="0"/>
              </a:rPr>
              <a:t>Cannot answer natural language queries</a:t>
            </a:r>
          </a:p>
          <a:p>
            <a:pPr marL="285750" indent="-285750"/>
            <a:r>
              <a:rPr lang="en-US" dirty="0">
                <a:latin typeface="Arial Rounded MT Bold" panose="020F0704030504030204" pitchFamily="34" charset="0"/>
              </a:rPr>
              <a:t>No semantic ranking (“meaning-based search”)</a:t>
            </a:r>
          </a:p>
          <a:p>
            <a:pPr marL="285750" indent="-285750"/>
            <a:r>
              <a:rPr lang="en-US" dirty="0">
                <a:latin typeface="Arial Rounded MT Bold" panose="020F0704030504030204" pitchFamily="34" charset="0"/>
              </a:rPr>
              <a:t>File organization depends on user’s memory</a:t>
            </a:r>
          </a:p>
          <a:p>
            <a:pPr marL="285750" indent="-285750"/>
            <a:r>
              <a:rPr lang="en-US" dirty="0">
                <a:latin typeface="Arial Rounded MT Bold" panose="020F0704030504030204" pitchFamily="34" charset="0"/>
              </a:rPr>
              <a:t>Limited contextual information (only metadata like date/size)</a:t>
            </a:r>
          </a:p>
          <a:p>
            <a:pPr marL="285750" indent="-285750"/>
            <a:r>
              <a:rPr lang="en-US" dirty="0">
                <a:latin typeface="Arial Rounded MT Bold" panose="020F0704030504030204" pitchFamily="34" charset="0"/>
              </a:rPr>
              <a:t>Struggles when user forgets file name or location</a:t>
            </a:r>
          </a:p>
          <a:p>
            <a:pPr marL="0" indent="0">
              <a:buNone/>
            </a:pPr>
            <a:r>
              <a:rPr lang="en-US" u="sng" dirty="0">
                <a:latin typeface="Arial Rounded MT Bold" panose="020F0704030504030204" pitchFamily="34" charset="0"/>
              </a:rPr>
              <a:t>Neuro Drive</a:t>
            </a:r>
          </a:p>
          <a:p>
            <a:pPr marL="285750" indent="-285750"/>
            <a:r>
              <a:rPr lang="en-IN" dirty="0">
                <a:latin typeface="Arial Rounded MT Bold" panose="020F0704030504030204" pitchFamily="34" charset="0"/>
              </a:rPr>
              <a:t>Understands document content using AI embeddings</a:t>
            </a:r>
          </a:p>
          <a:p>
            <a:pPr marL="285750" indent="-285750"/>
            <a:r>
              <a:rPr lang="en-IN" dirty="0">
                <a:latin typeface="Arial Rounded MT Bold" panose="020F0704030504030204" pitchFamily="34" charset="0"/>
              </a:rPr>
              <a:t>Supports natural language search </a:t>
            </a:r>
          </a:p>
          <a:p>
            <a:pPr marL="285750" indent="-285750"/>
            <a:r>
              <a:rPr lang="en-IN" dirty="0">
                <a:latin typeface="Arial Rounded MT Bold" panose="020F0704030504030204" pitchFamily="34" charset="0"/>
              </a:rPr>
              <a:t>Retrieves files based on meaning, not just keywords</a:t>
            </a:r>
          </a:p>
          <a:p>
            <a:pPr marL="285750" indent="-285750"/>
            <a:r>
              <a:rPr lang="en-IN" dirty="0">
                <a:latin typeface="Arial Rounded MT Bold" panose="020F0704030504030204" pitchFamily="34" charset="0"/>
              </a:rPr>
              <a:t>Uses context (topic, recency, file type) for ranking</a:t>
            </a:r>
          </a:p>
          <a:p>
            <a:pPr marL="285750" indent="-285750"/>
            <a:r>
              <a:rPr lang="en-IN" dirty="0">
                <a:latin typeface="Arial Rounded MT Bold" panose="020F0704030504030204" pitchFamily="34" charset="0"/>
              </a:rPr>
              <a:t>Works across PDF, DOCX, and TXT formats</a:t>
            </a:r>
          </a:p>
          <a:p>
            <a:pPr marL="285750" indent="-285750"/>
            <a:r>
              <a:rPr lang="en-IN" dirty="0">
                <a:latin typeface="Arial Rounded MT Bold" panose="020F0704030504030204" pitchFamily="34" charset="0"/>
              </a:rPr>
              <a:t>No need to remember file names or folders</a:t>
            </a:r>
          </a:p>
          <a:p>
            <a:pPr marL="285750" indent="-285750"/>
            <a:r>
              <a:rPr lang="en-IN" dirty="0">
                <a:latin typeface="Arial Rounded MT Bold" panose="020F0704030504030204" pitchFamily="34" charset="0"/>
              </a:rPr>
              <a:t>Faster and more accurate file discovery</a:t>
            </a:r>
          </a:p>
          <a:p>
            <a:pPr marL="285750" indent="-285750"/>
            <a:r>
              <a:rPr lang="en-IN" dirty="0">
                <a:latin typeface="Arial Rounded MT Bold" panose="020F0704030504030204" pitchFamily="34" charset="0"/>
              </a:rPr>
              <a:t>Scalable for large personal document collections</a:t>
            </a:r>
          </a:p>
          <a:p>
            <a:pPr marL="0" indent="0">
              <a:buNone/>
            </a:pPr>
            <a:endParaRPr lang="en-US" dirty="0"/>
          </a:p>
          <a:p>
            <a:pPr marL="0" indent="0">
              <a:buNone/>
            </a:pPr>
            <a:endParaRPr lang="en-IN" dirty="0"/>
          </a:p>
          <a:p>
            <a:pPr marL="0" indent="0">
              <a:buNone/>
            </a:pPr>
            <a:endParaRPr lang="en-IN" dirty="0"/>
          </a:p>
        </p:txBody>
      </p:sp>
      <p:sp>
        <p:nvSpPr>
          <p:cNvPr id="5" name="Slide Number Placeholder 4">
            <a:extLst>
              <a:ext uri="{FF2B5EF4-FFF2-40B4-BE49-F238E27FC236}">
                <a16:creationId xmlns:a16="http://schemas.microsoft.com/office/drawing/2014/main" id="{5643D201-C274-A5B1-38A2-14BA6809B11C}"/>
              </a:ext>
            </a:extLst>
          </p:cNvPr>
          <p:cNvSpPr>
            <a:spLocks noGrp="1"/>
          </p:cNvSpPr>
          <p:nvPr>
            <p:ph type="sldNum" sz="quarter" idx="12"/>
          </p:nvPr>
        </p:nvSpPr>
        <p:spPr/>
        <p:txBody>
          <a:bodyPr/>
          <a:lstStyle/>
          <a:p>
            <a:fld id="{3FCAF691-C30B-4477-A4FB-AFF7F164B000}" type="slidenum">
              <a:rPr lang="en-IN" smtClean="0"/>
              <a:pPr/>
              <a:t>16</a:t>
            </a:fld>
            <a:endParaRPr lang="en-IN"/>
          </a:p>
        </p:txBody>
      </p:sp>
      <p:pic>
        <p:nvPicPr>
          <p:cNvPr id="6" name="Picture 5">
            <a:extLst>
              <a:ext uri="{FF2B5EF4-FFF2-40B4-BE49-F238E27FC236}">
                <a16:creationId xmlns:a16="http://schemas.microsoft.com/office/drawing/2014/main" id="{023A8596-606B-795B-45EC-6B3C139CDB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7" name="Rectangle 6">
            <a:extLst>
              <a:ext uri="{FF2B5EF4-FFF2-40B4-BE49-F238E27FC236}">
                <a16:creationId xmlns:a16="http://schemas.microsoft.com/office/drawing/2014/main" id="{E3016F61-045D-DE87-5E0A-C8BE7111512D}"/>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Tree>
    <p:extLst>
      <p:ext uri="{BB962C8B-B14F-4D97-AF65-F5344CB8AC3E}">
        <p14:creationId xmlns:p14="http://schemas.microsoft.com/office/powerpoint/2010/main" val="1821727218"/>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E44FE-CE25-4D24-E597-6392771A529B}"/>
              </a:ext>
            </a:extLst>
          </p:cNvPr>
          <p:cNvSpPr>
            <a:spLocks noGrp="1"/>
          </p:cNvSpPr>
          <p:nvPr>
            <p:ph type="title"/>
          </p:nvPr>
        </p:nvSpPr>
        <p:spPr>
          <a:xfrm>
            <a:off x="628650" y="-208156"/>
            <a:ext cx="7886700" cy="1204332"/>
          </a:xfrm>
        </p:spPr>
        <p:txBody>
          <a:bodyPr>
            <a:normAutofit/>
          </a:bodyPr>
          <a:lstStyle/>
          <a:p>
            <a:pPr algn="ctr"/>
            <a:r>
              <a:rPr lang="en-IN" sz="2700" u="sng" dirty="0">
                <a:latin typeface="Arial Rounded MT Bold" panose="020F0704030504030204" pitchFamily="34" charset="0"/>
              </a:rPr>
              <a:t>Evaluation Metrics</a:t>
            </a:r>
          </a:p>
        </p:txBody>
      </p:sp>
      <p:sp>
        <p:nvSpPr>
          <p:cNvPr id="3" name="Content Placeholder 2">
            <a:extLst>
              <a:ext uri="{FF2B5EF4-FFF2-40B4-BE49-F238E27FC236}">
                <a16:creationId xmlns:a16="http://schemas.microsoft.com/office/drawing/2014/main" id="{7AF55014-D820-F6F2-E212-60014E2CFC49}"/>
              </a:ext>
            </a:extLst>
          </p:cNvPr>
          <p:cNvSpPr>
            <a:spLocks noGrp="1"/>
          </p:cNvSpPr>
          <p:nvPr>
            <p:ph idx="1"/>
          </p:nvPr>
        </p:nvSpPr>
        <p:spPr>
          <a:xfrm>
            <a:off x="628650" y="877229"/>
            <a:ext cx="7886700" cy="3755494"/>
          </a:xfrm>
        </p:spPr>
        <p:txBody>
          <a:bodyPr/>
          <a:lstStyle/>
          <a:p>
            <a:pPr marL="342900" indent="-342900">
              <a:lnSpc>
                <a:spcPts val="3240"/>
              </a:lnSpc>
              <a:buSzPct val="100000"/>
            </a:pPr>
            <a:r>
              <a:rPr lang="en-US" sz="1800" b="1" dirty="0">
                <a:latin typeface="Arial Rounded MT Bold" panose="020F0704030504030204" pitchFamily="34" charset="0"/>
                <a:ea typeface="Arial" pitchFamily="34" charset="-122"/>
                <a:cs typeface="Arial" pitchFamily="34" charset="-120"/>
              </a:rPr>
              <a:t>Accuracy:</a:t>
            </a:r>
            <a:r>
              <a:rPr lang="en-US" sz="1800" dirty="0">
                <a:latin typeface="Arial Rounded MT Bold" panose="020F0704030504030204" pitchFamily="34" charset="0"/>
                <a:ea typeface="Arial" pitchFamily="34" charset="-122"/>
                <a:cs typeface="Arial" pitchFamily="34" charset="-120"/>
              </a:rPr>
              <a:t> Quality of retrieved documents based on semantic relevance</a:t>
            </a:r>
            <a:endParaRPr lang="en-US" sz="1800" dirty="0">
              <a:latin typeface="Arial Rounded MT Bold" panose="020F0704030504030204" pitchFamily="34" charset="0"/>
            </a:endParaRPr>
          </a:p>
          <a:p>
            <a:pPr marL="342900" indent="-342900">
              <a:lnSpc>
                <a:spcPts val="3240"/>
              </a:lnSpc>
              <a:buSzPct val="100000"/>
            </a:pPr>
            <a:r>
              <a:rPr lang="en-US" sz="1800" b="1" dirty="0">
                <a:latin typeface="Arial Rounded MT Bold" panose="020F0704030504030204" pitchFamily="34" charset="0"/>
                <a:ea typeface="Arial" pitchFamily="34" charset="-122"/>
                <a:cs typeface="Arial" pitchFamily="34" charset="-120"/>
              </a:rPr>
              <a:t>Latency:</a:t>
            </a:r>
            <a:r>
              <a:rPr lang="en-US" sz="1800" dirty="0">
                <a:latin typeface="Arial Rounded MT Bold" panose="020F0704030504030204" pitchFamily="34" charset="0"/>
                <a:ea typeface="Arial" pitchFamily="34" charset="-122"/>
                <a:cs typeface="Arial" pitchFamily="34" charset="-120"/>
              </a:rPr>
              <a:t> Time taken to retrieve and rank results</a:t>
            </a:r>
            <a:endParaRPr lang="en-US" sz="1800" dirty="0">
              <a:latin typeface="Arial Rounded MT Bold" panose="020F0704030504030204" pitchFamily="34" charset="0"/>
            </a:endParaRPr>
          </a:p>
          <a:p>
            <a:pPr marL="342900" indent="-342900">
              <a:lnSpc>
                <a:spcPts val="3240"/>
              </a:lnSpc>
              <a:buSzPct val="100000"/>
            </a:pPr>
            <a:r>
              <a:rPr lang="en-US" sz="1800" b="1" dirty="0">
                <a:latin typeface="Arial Rounded MT Bold" panose="020F0704030504030204" pitchFamily="34" charset="0"/>
                <a:ea typeface="Arial" pitchFamily="34" charset="-122"/>
                <a:cs typeface="Arial" pitchFamily="34" charset="-120"/>
              </a:rPr>
              <a:t>Scalability:</a:t>
            </a:r>
            <a:r>
              <a:rPr lang="en-US" sz="1800" dirty="0">
                <a:latin typeface="Arial Rounded MT Bold" panose="020F0704030504030204" pitchFamily="34" charset="0"/>
                <a:ea typeface="Arial" pitchFamily="34" charset="-122"/>
                <a:cs typeface="Arial" pitchFamily="34" charset="-120"/>
              </a:rPr>
              <a:t> Ability to handle large volumes of personal data</a:t>
            </a:r>
            <a:endParaRPr lang="en-US" sz="1800" dirty="0">
              <a:latin typeface="Arial Rounded MT Bold" panose="020F0704030504030204" pitchFamily="34" charset="0"/>
            </a:endParaRPr>
          </a:p>
          <a:p>
            <a:pPr marL="342900" indent="-342900">
              <a:lnSpc>
                <a:spcPts val="3240"/>
              </a:lnSpc>
              <a:buSzPct val="100000"/>
            </a:pPr>
            <a:r>
              <a:rPr lang="en-US" sz="1800" b="1" dirty="0">
                <a:latin typeface="Arial Rounded MT Bold" panose="020F0704030504030204" pitchFamily="34" charset="0"/>
                <a:ea typeface="Arial" pitchFamily="34" charset="-122"/>
                <a:cs typeface="Arial" pitchFamily="34" charset="-120"/>
              </a:rPr>
              <a:t>User Experience:</a:t>
            </a:r>
            <a:r>
              <a:rPr lang="en-US" sz="1800" dirty="0">
                <a:latin typeface="Arial Rounded MT Bold" panose="020F0704030504030204" pitchFamily="34" charset="0"/>
                <a:ea typeface="Arial" pitchFamily="34" charset="-122"/>
                <a:cs typeface="Arial" pitchFamily="34" charset="-120"/>
              </a:rPr>
              <a:t> Intuitiveness and usefulness of results</a:t>
            </a:r>
            <a:endParaRPr lang="en-US" sz="1800" dirty="0">
              <a:latin typeface="Arial Rounded MT Bold" panose="020F0704030504030204" pitchFamily="34" charset="0"/>
            </a:endParaRPr>
          </a:p>
          <a:p>
            <a:pPr marL="0" indent="0">
              <a:buNone/>
            </a:pPr>
            <a:endParaRPr lang="en-IN" dirty="0"/>
          </a:p>
        </p:txBody>
      </p:sp>
      <p:sp>
        <p:nvSpPr>
          <p:cNvPr id="5" name="Slide Number Placeholder 4">
            <a:extLst>
              <a:ext uri="{FF2B5EF4-FFF2-40B4-BE49-F238E27FC236}">
                <a16:creationId xmlns:a16="http://schemas.microsoft.com/office/drawing/2014/main" id="{A6DE6414-4210-CE42-62E6-CBEF04751A6D}"/>
              </a:ext>
            </a:extLst>
          </p:cNvPr>
          <p:cNvSpPr>
            <a:spLocks noGrp="1"/>
          </p:cNvSpPr>
          <p:nvPr>
            <p:ph type="sldNum" sz="quarter" idx="12"/>
          </p:nvPr>
        </p:nvSpPr>
        <p:spPr/>
        <p:txBody>
          <a:bodyPr/>
          <a:lstStyle/>
          <a:p>
            <a:fld id="{3FCAF691-C30B-4477-A4FB-AFF7F164B000}" type="slidenum">
              <a:rPr lang="en-IN" smtClean="0"/>
              <a:pPr/>
              <a:t>17</a:t>
            </a:fld>
            <a:endParaRPr lang="en-IN"/>
          </a:p>
        </p:txBody>
      </p:sp>
      <p:pic>
        <p:nvPicPr>
          <p:cNvPr id="6" name="Picture 5">
            <a:extLst>
              <a:ext uri="{FF2B5EF4-FFF2-40B4-BE49-F238E27FC236}">
                <a16:creationId xmlns:a16="http://schemas.microsoft.com/office/drawing/2014/main" id="{C050C6DF-A207-E4D4-FCB7-034FA4C38C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7" name="Rectangle 6">
            <a:extLst>
              <a:ext uri="{FF2B5EF4-FFF2-40B4-BE49-F238E27FC236}">
                <a16:creationId xmlns:a16="http://schemas.microsoft.com/office/drawing/2014/main" id="{AD8BD87A-E7D6-86AE-C81D-252CD2486C33}"/>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Tree>
    <p:extLst>
      <p:ext uri="{BB962C8B-B14F-4D97-AF65-F5344CB8AC3E}">
        <p14:creationId xmlns:p14="http://schemas.microsoft.com/office/powerpoint/2010/main" val="3516312365"/>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5BA0-FBC4-AD57-EB95-7A0AEDEFAF10}"/>
              </a:ext>
            </a:extLst>
          </p:cNvPr>
          <p:cNvSpPr>
            <a:spLocks noGrp="1"/>
          </p:cNvSpPr>
          <p:nvPr>
            <p:ph type="title"/>
          </p:nvPr>
        </p:nvSpPr>
        <p:spPr>
          <a:xfrm>
            <a:off x="628650" y="-200722"/>
            <a:ext cx="7886700" cy="1330712"/>
          </a:xfrm>
        </p:spPr>
        <p:txBody>
          <a:bodyPr>
            <a:normAutofit/>
          </a:bodyPr>
          <a:lstStyle/>
          <a:p>
            <a:pPr algn="ctr"/>
            <a:r>
              <a:rPr lang="en-IN" sz="2700" u="sng" dirty="0">
                <a:latin typeface="Arial Rounded MT Bold" panose="020F0704030504030204" pitchFamily="34" charset="0"/>
              </a:rPr>
              <a:t>Real World Applications</a:t>
            </a:r>
          </a:p>
        </p:txBody>
      </p:sp>
      <p:sp>
        <p:nvSpPr>
          <p:cNvPr id="3" name="Content Placeholder 2">
            <a:extLst>
              <a:ext uri="{FF2B5EF4-FFF2-40B4-BE49-F238E27FC236}">
                <a16:creationId xmlns:a16="http://schemas.microsoft.com/office/drawing/2014/main" id="{DAE723E9-3D38-400D-247B-F6DB65C54D31}"/>
              </a:ext>
            </a:extLst>
          </p:cNvPr>
          <p:cNvSpPr>
            <a:spLocks noGrp="1"/>
          </p:cNvSpPr>
          <p:nvPr>
            <p:ph idx="1"/>
          </p:nvPr>
        </p:nvSpPr>
        <p:spPr>
          <a:xfrm>
            <a:off x="628650" y="966439"/>
            <a:ext cx="7886700" cy="3666284"/>
          </a:xfrm>
        </p:spPr>
        <p:txBody>
          <a:bodyPr/>
          <a:lstStyle/>
          <a:p>
            <a:pPr marL="342900" indent="-342900">
              <a:lnSpc>
                <a:spcPts val="3240"/>
              </a:lnSpc>
              <a:buSzPct val="100000"/>
            </a:pPr>
            <a:r>
              <a:rPr lang="en-US" sz="1800" dirty="0">
                <a:latin typeface="Arial Rounded MT Bold" panose="020F0704030504030204" pitchFamily="34" charset="0"/>
                <a:ea typeface="Arial" pitchFamily="34" charset="-122"/>
                <a:cs typeface="Arial" pitchFamily="34" charset="-120"/>
              </a:rPr>
              <a:t>Smart email and attachment organization</a:t>
            </a:r>
            <a:endParaRPr lang="en-US" sz="1800" dirty="0">
              <a:latin typeface="Arial Rounded MT Bold" panose="020F0704030504030204" pitchFamily="34" charset="0"/>
            </a:endParaRPr>
          </a:p>
          <a:p>
            <a:pPr marL="342900" indent="-342900">
              <a:lnSpc>
                <a:spcPts val="3240"/>
              </a:lnSpc>
              <a:buSzPct val="100000"/>
            </a:pPr>
            <a:r>
              <a:rPr lang="en-US" sz="1800" dirty="0">
                <a:latin typeface="Arial Rounded MT Bold" panose="020F0704030504030204" pitchFamily="34" charset="0"/>
                <a:ea typeface="Arial" pitchFamily="34" charset="-122"/>
                <a:cs typeface="Arial" pitchFamily="34" charset="-120"/>
              </a:rPr>
              <a:t>Personal knowledge management systems</a:t>
            </a:r>
            <a:endParaRPr lang="en-US" sz="1800" dirty="0">
              <a:latin typeface="Arial Rounded MT Bold" panose="020F0704030504030204" pitchFamily="34" charset="0"/>
            </a:endParaRPr>
          </a:p>
          <a:p>
            <a:pPr marL="342900" indent="-342900">
              <a:lnSpc>
                <a:spcPts val="3240"/>
              </a:lnSpc>
              <a:buSzPct val="100000"/>
            </a:pPr>
            <a:r>
              <a:rPr lang="en-US" sz="1800" dirty="0">
                <a:latin typeface="Arial Rounded MT Bold" panose="020F0704030504030204" pitchFamily="34" charset="0"/>
                <a:ea typeface="Arial" pitchFamily="34" charset="-122"/>
                <a:cs typeface="Arial" pitchFamily="34" charset="-120"/>
              </a:rPr>
              <a:t>AI-powered research assistants</a:t>
            </a:r>
            <a:endParaRPr lang="en-US" sz="1800" dirty="0">
              <a:latin typeface="Arial Rounded MT Bold" panose="020F0704030504030204" pitchFamily="34" charset="0"/>
            </a:endParaRPr>
          </a:p>
          <a:p>
            <a:pPr marL="342900" indent="-342900">
              <a:lnSpc>
                <a:spcPts val="3240"/>
              </a:lnSpc>
              <a:buSzPct val="100000"/>
            </a:pPr>
            <a:r>
              <a:rPr lang="en-US" sz="1800" dirty="0">
                <a:latin typeface="Arial Rounded MT Bold" panose="020F0704030504030204" pitchFamily="34" charset="0"/>
                <a:ea typeface="Arial" pitchFamily="34" charset="-122"/>
                <a:cs typeface="Arial" pitchFamily="34" charset="-120"/>
              </a:rPr>
              <a:t>Enterprise document retrieval and management</a:t>
            </a:r>
            <a:endParaRPr lang="en-US" sz="1800" dirty="0">
              <a:latin typeface="Arial Rounded MT Bold" panose="020F0704030504030204" pitchFamily="34" charset="0"/>
            </a:endParaRPr>
          </a:p>
          <a:p>
            <a:pPr marL="342900" indent="-342900">
              <a:lnSpc>
                <a:spcPts val="3240"/>
              </a:lnSpc>
              <a:buSzPct val="100000"/>
            </a:pPr>
            <a:r>
              <a:rPr lang="en-US" sz="1800" dirty="0">
                <a:latin typeface="Arial Rounded MT Bold" panose="020F0704030504030204" pitchFamily="34" charset="0"/>
                <a:ea typeface="Arial" pitchFamily="34" charset="-122"/>
                <a:cs typeface="Arial" pitchFamily="34" charset="-120"/>
              </a:rPr>
              <a:t>Educational resource organization and discovery</a:t>
            </a:r>
            <a:endParaRPr lang="en-US" sz="1800" dirty="0">
              <a:latin typeface="Arial Rounded MT Bold" panose="020F0704030504030204" pitchFamily="34" charset="0"/>
            </a:endParaRPr>
          </a:p>
          <a:p>
            <a:pPr marL="0" indent="0">
              <a:buNone/>
            </a:pPr>
            <a:endParaRPr lang="en-IN" dirty="0"/>
          </a:p>
        </p:txBody>
      </p:sp>
      <p:sp>
        <p:nvSpPr>
          <p:cNvPr id="5" name="Slide Number Placeholder 4">
            <a:extLst>
              <a:ext uri="{FF2B5EF4-FFF2-40B4-BE49-F238E27FC236}">
                <a16:creationId xmlns:a16="http://schemas.microsoft.com/office/drawing/2014/main" id="{FAEF158E-7212-5147-B67B-28355CC6B51C}"/>
              </a:ext>
            </a:extLst>
          </p:cNvPr>
          <p:cNvSpPr>
            <a:spLocks noGrp="1"/>
          </p:cNvSpPr>
          <p:nvPr>
            <p:ph type="sldNum" sz="quarter" idx="12"/>
          </p:nvPr>
        </p:nvSpPr>
        <p:spPr/>
        <p:txBody>
          <a:bodyPr/>
          <a:lstStyle/>
          <a:p>
            <a:fld id="{3FCAF691-C30B-4477-A4FB-AFF7F164B000}" type="slidenum">
              <a:rPr lang="en-IN" smtClean="0"/>
              <a:pPr/>
              <a:t>18</a:t>
            </a:fld>
            <a:endParaRPr lang="en-IN"/>
          </a:p>
        </p:txBody>
      </p:sp>
      <p:pic>
        <p:nvPicPr>
          <p:cNvPr id="6" name="Picture 5">
            <a:extLst>
              <a:ext uri="{FF2B5EF4-FFF2-40B4-BE49-F238E27FC236}">
                <a16:creationId xmlns:a16="http://schemas.microsoft.com/office/drawing/2014/main" id="{8D62B4F3-F15A-6626-3CDF-12D9F76DFB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7" name="Rectangle 6">
            <a:extLst>
              <a:ext uri="{FF2B5EF4-FFF2-40B4-BE49-F238E27FC236}">
                <a16:creationId xmlns:a16="http://schemas.microsoft.com/office/drawing/2014/main" id="{6E173E61-117A-5E50-C0A8-164A308C1469}"/>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Tree>
    <p:extLst>
      <p:ext uri="{BB962C8B-B14F-4D97-AF65-F5344CB8AC3E}">
        <p14:creationId xmlns:p14="http://schemas.microsoft.com/office/powerpoint/2010/main" val="2958450392"/>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87372-6E87-E295-E92A-69C01313C533}"/>
              </a:ext>
            </a:extLst>
          </p:cNvPr>
          <p:cNvSpPr>
            <a:spLocks noGrp="1"/>
          </p:cNvSpPr>
          <p:nvPr>
            <p:ph type="title"/>
          </p:nvPr>
        </p:nvSpPr>
        <p:spPr>
          <a:xfrm>
            <a:off x="628650" y="0"/>
            <a:ext cx="7886700" cy="1268016"/>
          </a:xfrm>
        </p:spPr>
        <p:txBody>
          <a:bodyPr>
            <a:normAutofit/>
          </a:bodyPr>
          <a:lstStyle/>
          <a:p>
            <a:pPr algn="ctr"/>
            <a:r>
              <a:rPr lang="en-IN" sz="2700" u="sng" dirty="0">
                <a:latin typeface="Arial Rounded MT Bold" panose="020F0704030504030204" pitchFamily="34" charset="0"/>
              </a:rPr>
              <a:t>Challenges/Limitations</a:t>
            </a:r>
          </a:p>
        </p:txBody>
      </p:sp>
      <p:sp>
        <p:nvSpPr>
          <p:cNvPr id="3" name="Content Placeholder 2">
            <a:extLst>
              <a:ext uri="{FF2B5EF4-FFF2-40B4-BE49-F238E27FC236}">
                <a16:creationId xmlns:a16="http://schemas.microsoft.com/office/drawing/2014/main" id="{60C65959-8987-C2A7-7D55-7EC5CCC83C17}"/>
              </a:ext>
            </a:extLst>
          </p:cNvPr>
          <p:cNvSpPr>
            <a:spLocks noGrp="1"/>
          </p:cNvSpPr>
          <p:nvPr>
            <p:ph idx="1"/>
          </p:nvPr>
        </p:nvSpPr>
        <p:spPr>
          <a:xfrm>
            <a:off x="628650" y="1070517"/>
            <a:ext cx="7886700" cy="3562206"/>
          </a:xfrm>
        </p:spPr>
        <p:txBody>
          <a:bodyPr>
            <a:normAutofit fontScale="55000" lnSpcReduction="20000"/>
          </a:bodyPr>
          <a:lstStyle/>
          <a:p>
            <a:pPr marL="342900" indent="-342900">
              <a:lnSpc>
                <a:spcPts val="3240"/>
              </a:lnSpc>
              <a:buSzPct val="100000"/>
            </a:pPr>
            <a:r>
              <a:rPr lang="en-US" sz="2900" dirty="0">
                <a:latin typeface="Arial Rounded MT Bold" panose="020F0704030504030204" pitchFamily="34" charset="0"/>
                <a:ea typeface="Arial" pitchFamily="34" charset="-122"/>
                <a:cs typeface="Arial" pitchFamily="34" charset="-120"/>
              </a:rPr>
              <a:t>Handling complex PDFs (multi-column layout, scanned documents, tables).</a:t>
            </a:r>
          </a:p>
          <a:p>
            <a:pPr marL="342900" indent="-342900">
              <a:lnSpc>
                <a:spcPts val="3240"/>
              </a:lnSpc>
              <a:buSzPct val="100000"/>
            </a:pPr>
            <a:r>
              <a:rPr lang="en-US" sz="2900" dirty="0">
                <a:latin typeface="Arial Rounded MT Bold" panose="020F0704030504030204" pitchFamily="34" charset="0"/>
                <a:ea typeface="Arial" pitchFamily="34" charset="-122"/>
                <a:cs typeface="Arial" pitchFamily="34" charset="-120"/>
              </a:rPr>
              <a:t>Ensuring high-quality text extraction for all file formats</a:t>
            </a:r>
          </a:p>
          <a:p>
            <a:pPr marL="342900" indent="-342900">
              <a:lnSpc>
                <a:spcPts val="3240"/>
              </a:lnSpc>
              <a:buSzPct val="100000"/>
            </a:pPr>
            <a:r>
              <a:rPr lang="en-US" sz="2900" dirty="0">
                <a:latin typeface="Arial Rounded MT Bold" panose="020F0704030504030204" pitchFamily="34" charset="0"/>
                <a:ea typeface="Arial" pitchFamily="34" charset="-122"/>
                <a:cs typeface="Arial" pitchFamily="34" charset="-120"/>
              </a:rPr>
              <a:t>Managing performance when indexing a large number of documents.</a:t>
            </a:r>
          </a:p>
          <a:p>
            <a:pPr marL="342900" indent="-342900">
              <a:lnSpc>
                <a:spcPts val="3240"/>
              </a:lnSpc>
              <a:buSzPct val="100000"/>
            </a:pPr>
            <a:r>
              <a:rPr lang="en-US" sz="2900" dirty="0">
                <a:latin typeface="Arial Rounded MT Bold" panose="020F0704030504030204" pitchFamily="34" charset="0"/>
                <a:ea typeface="Arial" pitchFamily="34" charset="-122"/>
                <a:cs typeface="Arial" pitchFamily="34" charset="-120"/>
              </a:rPr>
              <a:t>Balancing accuracy of semantic search with response time</a:t>
            </a:r>
          </a:p>
          <a:p>
            <a:pPr marL="342900" indent="-342900">
              <a:lnSpc>
                <a:spcPts val="3240"/>
              </a:lnSpc>
              <a:buSzPct val="100000"/>
            </a:pPr>
            <a:r>
              <a:rPr lang="en-US" sz="2900" dirty="0">
                <a:latin typeface="Arial Rounded MT Bold" panose="020F0704030504030204" pitchFamily="34" charset="0"/>
                <a:ea typeface="Arial" pitchFamily="34" charset="-122"/>
                <a:cs typeface="Arial" pitchFamily="34" charset="-120"/>
              </a:rPr>
              <a:t>Future integration of OCR for scanned documents is out of current scope.</a:t>
            </a:r>
          </a:p>
          <a:p>
            <a:pPr marL="0" indent="0">
              <a:buNone/>
            </a:pPr>
            <a:endParaRPr lang="en-IN" dirty="0"/>
          </a:p>
        </p:txBody>
      </p:sp>
      <p:sp>
        <p:nvSpPr>
          <p:cNvPr id="5" name="Slide Number Placeholder 4">
            <a:extLst>
              <a:ext uri="{FF2B5EF4-FFF2-40B4-BE49-F238E27FC236}">
                <a16:creationId xmlns:a16="http://schemas.microsoft.com/office/drawing/2014/main" id="{5BF9B50A-249D-33F1-3A57-3315BC425811}"/>
              </a:ext>
            </a:extLst>
          </p:cNvPr>
          <p:cNvSpPr>
            <a:spLocks noGrp="1"/>
          </p:cNvSpPr>
          <p:nvPr>
            <p:ph type="sldNum" sz="quarter" idx="12"/>
          </p:nvPr>
        </p:nvSpPr>
        <p:spPr/>
        <p:txBody>
          <a:bodyPr/>
          <a:lstStyle/>
          <a:p>
            <a:fld id="{3FCAF691-C30B-4477-A4FB-AFF7F164B000}" type="slidenum">
              <a:rPr lang="en-IN" smtClean="0"/>
              <a:pPr/>
              <a:t>19</a:t>
            </a:fld>
            <a:endParaRPr lang="en-IN"/>
          </a:p>
        </p:txBody>
      </p:sp>
      <p:pic>
        <p:nvPicPr>
          <p:cNvPr id="6" name="Picture 5">
            <a:extLst>
              <a:ext uri="{FF2B5EF4-FFF2-40B4-BE49-F238E27FC236}">
                <a16:creationId xmlns:a16="http://schemas.microsoft.com/office/drawing/2014/main" id="{F98B7B1E-334C-37E3-03E2-9D897A008C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7" name="Rectangle 6">
            <a:extLst>
              <a:ext uri="{FF2B5EF4-FFF2-40B4-BE49-F238E27FC236}">
                <a16:creationId xmlns:a16="http://schemas.microsoft.com/office/drawing/2014/main" id="{0BDFADBF-C68C-B095-40E9-3C6D18A16AE1}"/>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Tree>
    <p:extLst>
      <p:ext uri="{BB962C8B-B14F-4D97-AF65-F5344CB8AC3E}">
        <p14:creationId xmlns:p14="http://schemas.microsoft.com/office/powerpoint/2010/main" val="2381785489"/>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6E3CE-F93E-8B43-EF8F-9A6650AC5474}"/>
              </a:ext>
            </a:extLst>
          </p:cNvPr>
          <p:cNvSpPr>
            <a:spLocks noGrp="1"/>
          </p:cNvSpPr>
          <p:nvPr>
            <p:ph type="title"/>
          </p:nvPr>
        </p:nvSpPr>
        <p:spPr>
          <a:xfrm>
            <a:off x="628650" y="-193288"/>
            <a:ext cx="7886700" cy="1461304"/>
          </a:xfrm>
        </p:spPr>
        <p:txBody>
          <a:bodyPr>
            <a:normAutofit/>
          </a:bodyPr>
          <a:lstStyle/>
          <a:p>
            <a:pPr algn="ctr"/>
            <a:r>
              <a:rPr lang="en-IN" sz="2700" u="sng" dirty="0">
                <a:latin typeface="Arial Rounded MT Bold" panose="020F0704030504030204" pitchFamily="34" charset="0"/>
              </a:rPr>
              <a:t>Conclusion</a:t>
            </a:r>
          </a:p>
        </p:txBody>
      </p:sp>
      <p:sp>
        <p:nvSpPr>
          <p:cNvPr id="3" name="Content Placeholder 2">
            <a:extLst>
              <a:ext uri="{FF2B5EF4-FFF2-40B4-BE49-F238E27FC236}">
                <a16:creationId xmlns:a16="http://schemas.microsoft.com/office/drawing/2014/main" id="{08EF5F39-C3A2-88B3-BB0D-FC0D82055D93}"/>
              </a:ext>
            </a:extLst>
          </p:cNvPr>
          <p:cNvSpPr>
            <a:spLocks noGrp="1"/>
          </p:cNvSpPr>
          <p:nvPr>
            <p:ph idx="1"/>
          </p:nvPr>
        </p:nvSpPr>
        <p:spPr>
          <a:xfrm>
            <a:off x="628650" y="1040780"/>
            <a:ext cx="7886700" cy="3591943"/>
          </a:xfrm>
        </p:spPr>
        <p:txBody>
          <a:bodyPr/>
          <a:lstStyle/>
          <a:p>
            <a:pPr marL="285750" indent="-285750">
              <a:lnSpc>
                <a:spcPts val="1800"/>
              </a:lnSpc>
            </a:pPr>
            <a:r>
              <a:rPr lang="en-US" sz="1800" dirty="0" err="1">
                <a:latin typeface="Arial Rounded MT Bold" panose="020F0704030504030204" pitchFamily="34" charset="0"/>
                <a:ea typeface="Arial" pitchFamily="34" charset="-122"/>
                <a:cs typeface="Arial" pitchFamily="34" charset="-120"/>
              </a:rPr>
              <a:t>NeuroDrive</a:t>
            </a:r>
            <a:r>
              <a:rPr lang="en-US" sz="1800" dirty="0">
                <a:latin typeface="Arial Rounded MT Bold" panose="020F0704030504030204" pitchFamily="34" charset="0"/>
                <a:ea typeface="Arial" pitchFamily="34" charset="-122"/>
                <a:cs typeface="Arial" pitchFamily="34" charset="-120"/>
              </a:rPr>
              <a:t> aims to bridge the gap between traditional file systems and modern AI-based search.</a:t>
            </a:r>
          </a:p>
          <a:p>
            <a:pPr marL="285750" indent="-285750">
              <a:lnSpc>
                <a:spcPts val="1800"/>
              </a:lnSpc>
            </a:pPr>
            <a:r>
              <a:rPr lang="en-US" sz="1800" dirty="0">
                <a:latin typeface="Arial Rounded MT Bold" panose="020F0704030504030204" pitchFamily="34" charset="0"/>
                <a:ea typeface="Arial" pitchFamily="34" charset="-122"/>
                <a:cs typeface="Arial" pitchFamily="34" charset="-120"/>
              </a:rPr>
              <a:t>By combining text extraction, semantic embeddings, and contextual ranking, the system can retrieve files based on meaning rather than just names or paths.</a:t>
            </a:r>
          </a:p>
          <a:p>
            <a:pPr marL="285750" indent="-285750">
              <a:lnSpc>
                <a:spcPts val="1800"/>
              </a:lnSpc>
            </a:pPr>
            <a:r>
              <a:rPr lang="en-US" sz="1800" dirty="0">
                <a:latin typeface="Arial Rounded MT Bold" panose="020F0704030504030204" pitchFamily="34" charset="0"/>
                <a:ea typeface="Arial" pitchFamily="34" charset="-122"/>
                <a:cs typeface="Arial" pitchFamily="34" charset="-120"/>
              </a:rPr>
              <a:t>The mid-semester progress has established the foundation modules, and the upcoming work will focus on integration, search accuracy, and user experience.</a:t>
            </a:r>
            <a:endParaRPr lang="en-US" sz="1800" dirty="0">
              <a:latin typeface="Arial Rounded MT Bold" panose="020F0704030504030204" pitchFamily="34" charset="0"/>
            </a:endParaRPr>
          </a:p>
          <a:p>
            <a:endParaRPr lang="en-IN" dirty="0"/>
          </a:p>
        </p:txBody>
      </p:sp>
      <p:sp>
        <p:nvSpPr>
          <p:cNvPr id="5" name="Slide Number Placeholder 4">
            <a:extLst>
              <a:ext uri="{FF2B5EF4-FFF2-40B4-BE49-F238E27FC236}">
                <a16:creationId xmlns:a16="http://schemas.microsoft.com/office/drawing/2014/main" id="{C1A63C11-3DAC-72AC-2F2E-E16E9FD0C223}"/>
              </a:ext>
            </a:extLst>
          </p:cNvPr>
          <p:cNvSpPr>
            <a:spLocks noGrp="1"/>
          </p:cNvSpPr>
          <p:nvPr>
            <p:ph type="sldNum" sz="quarter" idx="12"/>
          </p:nvPr>
        </p:nvSpPr>
        <p:spPr/>
        <p:txBody>
          <a:bodyPr/>
          <a:lstStyle/>
          <a:p>
            <a:fld id="{3FCAF691-C30B-4477-A4FB-AFF7F164B000}" type="slidenum">
              <a:rPr lang="en-IN" smtClean="0"/>
              <a:pPr/>
              <a:t>20</a:t>
            </a:fld>
            <a:endParaRPr lang="en-IN"/>
          </a:p>
        </p:txBody>
      </p:sp>
      <p:pic>
        <p:nvPicPr>
          <p:cNvPr id="6" name="Picture 5">
            <a:extLst>
              <a:ext uri="{FF2B5EF4-FFF2-40B4-BE49-F238E27FC236}">
                <a16:creationId xmlns:a16="http://schemas.microsoft.com/office/drawing/2014/main" id="{7097B39C-579A-05A9-114B-CC04E5A815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7" name="Rectangle 6">
            <a:extLst>
              <a:ext uri="{FF2B5EF4-FFF2-40B4-BE49-F238E27FC236}">
                <a16:creationId xmlns:a16="http://schemas.microsoft.com/office/drawing/2014/main" id="{5C225B8F-83AC-E087-9EDE-AB48E1E5CE77}"/>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Roll No:61,62,63,64,65, Department of Engineering, Sciences and Humanities, VIT, Pune-37</a:t>
            </a:r>
          </a:p>
        </p:txBody>
      </p:sp>
    </p:spTree>
    <p:extLst>
      <p:ext uri="{BB962C8B-B14F-4D97-AF65-F5344CB8AC3E}">
        <p14:creationId xmlns:p14="http://schemas.microsoft.com/office/powerpoint/2010/main" val="2700916197"/>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25C49-0FED-4D6B-B28B-CEC15C30020F}"/>
              </a:ext>
            </a:extLst>
          </p:cNvPr>
          <p:cNvSpPr>
            <a:spLocks noGrp="1"/>
          </p:cNvSpPr>
          <p:nvPr>
            <p:ph type="title"/>
          </p:nvPr>
        </p:nvSpPr>
        <p:spPr>
          <a:xfrm>
            <a:off x="582051" y="21103"/>
            <a:ext cx="7886700" cy="728004"/>
          </a:xfrm>
        </p:spPr>
        <p:txBody>
          <a:bodyPr>
            <a:normAutofit/>
          </a:bodyPr>
          <a:lstStyle/>
          <a:p>
            <a:pPr algn="ctr"/>
            <a:r>
              <a:rPr lang="en-IN" sz="2700" b="1" dirty="0"/>
              <a:t>   </a:t>
            </a:r>
          </a:p>
        </p:txBody>
      </p:sp>
      <p:sp>
        <p:nvSpPr>
          <p:cNvPr id="3" name="Content Placeholder 2">
            <a:extLst>
              <a:ext uri="{FF2B5EF4-FFF2-40B4-BE49-F238E27FC236}">
                <a16:creationId xmlns:a16="http://schemas.microsoft.com/office/drawing/2014/main" id="{48F90B0E-ED9E-4B65-820F-8F4890616EC9}"/>
              </a:ext>
            </a:extLst>
          </p:cNvPr>
          <p:cNvSpPr>
            <a:spLocks noGrp="1"/>
          </p:cNvSpPr>
          <p:nvPr>
            <p:ph idx="1"/>
          </p:nvPr>
        </p:nvSpPr>
        <p:spPr>
          <a:xfrm>
            <a:off x="628650" y="601394"/>
            <a:ext cx="7886700" cy="4389120"/>
          </a:xfrm>
        </p:spPr>
        <p:txBody>
          <a:bodyPr/>
          <a:lstStyle/>
          <a:p>
            <a:pPr marL="0" indent="0">
              <a:buNone/>
            </a:pPr>
            <a:endParaRPr lang="en-IN" sz="1800" dirty="0">
              <a:solidFill>
                <a:schemeClr val="bg2">
                  <a:lumMod val="75000"/>
                </a:schemeClr>
              </a:solidFill>
            </a:endParaRPr>
          </a:p>
          <a:p>
            <a:pPr marL="0" indent="0">
              <a:buNone/>
            </a:pPr>
            <a:endParaRPr lang="en-IN" sz="1800" dirty="0">
              <a:solidFill>
                <a:schemeClr val="bg2">
                  <a:lumMod val="75000"/>
                </a:schemeClr>
              </a:solidFill>
            </a:endParaRPr>
          </a:p>
          <a:p>
            <a:pPr marL="0" indent="0">
              <a:buNone/>
            </a:pPr>
            <a:endParaRPr lang="en-IN" sz="1800" dirty="0">
              <a:solidFill>
                <a:schemeClr val="bg2">
                  <a:lumMod val="75000"/>
                </a:schemeClr>
              </a:solidFill>
            </a:endParaRPr>
          </a:p>
          <a:p>
            <a:pPr marL="0" indent="0">
              <a:buNone/>
            </a:pPr>
            <a:endParaRPr lang="en-IN" sz="1800" dirty="0">
              <a:solidFill>
                <a:schemeClr val="bg2">
                  <a:lumMod val="75000"/>
                </a:schemeClr>
              </a:solidFill>
            </a:endParaRPr>
          </a:p>
          <a:p>
            <a:pPr marL="0" indent="0">
              <a:buNone/>
            </a:pPr>
            <a:endParaRPr lang="en-IN" sz="1800" dirty="0">
              <a:solidFill>
                <a:schemeClr val="bg2">
                  <a:lumMod val="75000"/>
                </a:schemeClr>
              </a:solidFill>
            </a:endParaRPr>
          </a:p>
          <a:p>
            <a:pPr marL="0" indent="0">
              <a:buNone/>
            </a:pPr>
            <a:r>
              <a:rPr lang="en-IN" sz="1800" dirty="0">
                <a:solidFill>
                  <a:schemeClr val="bg2">
                    <a:lumMod val="75000"/>
                  </a:schemeClr>
                </a:solidFill>
              </a:rPr>
              <a:t>                                                      </a:t>
            </a:r>
            <a:r>
              <a:rPr lang="en-IN" sz="3600" dirty="0">
                <a:latin typeface="Arial Rounded MT Bold" panose="020F0704030504030204" pitchFamily="34" charset="0"/>
              </a:rPr>
              <a:t>Thank You </a:t>
            </a:r>
            <a:endParaRPr lang="en-IN" sz="1800" dirty="0">
              <a:latin typeface="Arial Rounded MT Bold" panose="020F0704030504030204" pitchFamily="34"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724623" cy="819345"/>
          </a:xfrm>
          <a:prstGeom prst="rect">
            <a:avLst/>
          </a:prstGeom>
        </p:spPr>
      </p:pic>
      <p:sp>
        <p:nvSpPr>
          <p:cNvPr id="11" name="Slide Number Placeholder 4">
            <a:extLst>
              <a:ext uri="{FF2B5EF4-FFF2-40B4-BE49-F238E27FC236}">
                <a16:creationId xmlns:a16="http://schemas.microsoft.com/office/drawing/2014/main" id="{7DA496CA-B28D-4CA7-951D-950D5EA764C3}"/>
              </a:ext>
            </a:extLst>
          </p:cNvPr>
          <p:cNvSpPr>
            <a:spLocks noGrp="1"/>
          </p:cNvSpPr>
          <p:nvPr>
            <p:ph type="sldNum" sz="quarter" idx="12"/>
          </p:nvPr>
        </p:nvSpPr>
        <p:spPr>
          <a:xfrm>
            <a:off x="8603226" y="4882455"/>
            <a:ext cx="540774" cy="273844"/>
          </a:xfrm>
        </p:spPr>
        <p:txBody>
          <a:bodyPr/>
          <a:lstStyle/>
          <a:p>
            <a:fld id="{3FCAF691-C30B-4477-A4FB-AFF7F164B000}" type="slidenum">
              <a:rPr lang="en-IN" sz="1200" b="1" smtClean="0">
                <a:solidFill>
                  <a:schemeClr val="tx1"/>
                </a:solidFill>
              </a:rPr>
              <a:pPr/>
              <a:t>21</a:t>
            </a:fld>
            <a:endParaRPr lang="en-IN" sz="1200" b="1" dirty="0">
              <a:solidFill>
                <a:schemeClr val="tx1"/>
              </a:solidFill>
            </a:endParaRPr>
          </a:p>
        </p:txBody>
      </p:sp>
      <p:sp>
        <p:nvSpPr>
          <p:cNvPr id="4" name="Rectangle 3">
            <a:extLst>
              <a:ext uri="{FF2B5EF4-FFF2-40B4-BE49-F238E27FC236}">
                <a16:creationId xmlns:a16="http://schemas.microsoft.com/office/drawing/2014/main" id="{C30B095A-509B-F6C9-E051-EC8190E38F4F}"/>
              </a:ext>
            </a:extLst>
          </p:cNvPr>
          <p:cNvSpPr/>
          <p:nvPr/>
        </p:nvSpPr>
        <p:spPr>
          <a:xfrm>
            <a:off x="0" y="4882455"/>
            <a:ext cx="9144000" cy="252687"/>
          </a:xfrm>
          <a:prstGeom prst="rect">
            <a:avLst/>
          </a:prstGeom>
          <a:solidFill>
            <a:srgbClr val="43A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b="1" dirty="0">
                <a:solidFill>
                  <a:schemeClr val="tx1"/>
                </a:solidFill>
              </a:rPr>
              <a:t>Roll No:61,62,63,64,65, Department of Engineering, Sciences and Humanities, VIT, Pune-37                          20</a:t>
            </a:r>
          </a:p>
        </p:txBody>
      </p:sp>
    </p:spTree>
    <p:extLst>
      <p:ext uri="{BB962C8B-B14F-4D97-AF65-F5344CB8AC3E}">
        <p14:creationId xmlns:p14="http://schemas.microsoft.com/office/powerpoint/2010/main" val="3246460211"/>
      </p:ext>
    </p:extLst>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4545</TotalTime>
  <Words>2401</Words>
  <Application>Microsoft Office PowerPoint</Application>
  <PresentationFormat>On-screen Show (16:9)</PresentationFormat>
  <Paragraphs>293</Paragraphs>
  <Slides>21</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Arial Rounded MT Bold</vt:lpstr>
      <vt:lpstr>Calibri</vt:lpstr>
      <vt:lpstr>Calibri Light</vt:lpstr>
      <vt:lpstr>Office Theme</vt:lpstr>
      <vt:lpstr>Applied Science and Engineering Project (ASEP) Course Code: AI1011 Mid Semester Review Activity Presentation</vt:lpstr>
      <vt:lpstr>Applied Science and Engineering Project 1 (ASEP1) Project_PPT for Mid Semester Assessment – November 2025</vt:lpstr>
      <vt:lpstr>Introduction of ASEP Topic</vt:lpstr>
      <vt:lpstr>Problem Statement</vt:lpstr>
      <vt:lpstr>Objectives</vt:lpstr>
      <vt:lpstr>System Architecture</vt:lpstr>
      <vt:lpstr>Proposed Solution</vt:lpstr>
      <vt:lpstr>Module-wise System Design</vt:lpstr>
      <vt:lpstr>Technologies &amp; Tools</vt:lpstr>
      <vt:lpstr>Implementation Workflow</vt:lpstr>
      <vt:lpstr>Literature Review</vt:lpstr>
      <vt:lpstr>PowerPoint Presentation</vt:lpstr>
      <vt:lpstr>PowerPoint Presentation</vt:lpstr>
      <vt:lpstr>PowerPoint Presentation</vt:lpstr>
      <vt:lpstr>PowerPoint Presentation</vt:lpstr>
      <vt:lpstr>Neuro Drive vs Existing Systems</vt:lpstr>
      <vt:lpstr>Evaluation Metrics</vt:lpstr>
      <vt:lpstr>Real World Applications</vt:lpstr>
      <vt:lpstr>Challenges/Limitations</vt:lpstr>
      <vt:lpstr>Conclusion</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and Standard Practices for Engineers</dc:title>
  <dc:creator>Viit Viit</dc:creator>
  <cp:lastModifiedBy>Manvi Shinde</cp:lastModifiedBy>
  <cp:revision>229</cp:revision>
  <dcterms:created xsi:type="dcterms:W3CDTF">2020-04-02T16:05:06Z</dcterms:created>
  <dcterms:modified xsi:type="dcterms:W3CDTF">2025-11-27T21:54:40Z</dcterms:modified>
</cp:coreProperties>
</file>